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2743200" cy="27432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1371600"/>
            <a:ext cx="1828800" cy="18288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58200" y="34290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86000"/>
            <a:ext cx="228600" cy="27432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0A0B0"/>
                </a:solidFill>
                <a:latin typeface="Calibri"/>
              </a:rPr>
              <a:t>LEZIONE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5156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OWASP, threat modeling e STRIDE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6FD8E0"/>
                </a:solidFill>
                <a:latin typeface="Calibri"/>
              </a:rPr>
              <a:t>Come pensare alla sicurezza prima di scrivere codice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69280"/>
            <a:ext cx="2011680" cy="41148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⏱  Lezione 2 · 2 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Corso IFTS STEM · Ing. Alessandro Manneschi ·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🎯  Obiettivi della lezione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0" b="1" i="0">
                <a:solidFill>
                  <a:srgbClr val="F1F4F8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1">
                <a:solidFill>
                  <a:srgbClr val="00A0B0"/>
                </a:solidFill>
                <a:latin typeface="Calibri"/>
              </a:rPr>
              <a:t>obiettivi</a:t>
            </a:r>
          </a:p>
        </p:txBody>
      </p:sp>
      <p:sp>
        <p:nvSpPr>
          <p:cNvPr id="6" name="Oval 5"/>
          <p:cNvSpPr/>
          <p:nvPr/>
        </p:nvSpPr>
        <p:spPr>
          <a:xfrm>
            <a:off x="3200400" y="118872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6187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Conoscere OWASP e la Top 10 delle vulnerabilità web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96596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96596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03911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Saper leggere CVE e CVSS</a:t>
            </a:r>
          </a:p>
        </p:txBody>
      </p:sp>
      <p:sp>
        <p:nvSpPr>
          <p:cNvPr id="12" name="Oval 11"/>
          <p:cNvSpPr/>
          <p:nvPr/>
        </p:nvSpPr>
        <p:spPr>
          <a:xfrm>
            <a:off x="3200400" y="274320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81635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Applicare un threat modeling leggero (4 domande)</a:t>
            </a:r>
          </a:p>
        </p:txBody>
      </p:sp>
      <p:sp>
        <p:nvSpPr>
          <p:cNvPr id="15" name="Oval 14"/>
          <p:cNvSpPr/>
          <p:nvPr/>
        </p:nvSpPr>
        <p:spPr>
          <a:xfrm>
            <a:off x="3200400" y="352044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5204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59359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Usare STRIDE come checklist sistematica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0" y="429768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42976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7083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Disegnare un Data Flow Diagram con trust boundary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0" b="1" i="0">
                <a:solidFill>
                  <a:srgbClr val="00A0B0"/>
                </a:solidFill>
                <a:latin typeface="Georgia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286000"/>
            <a:ext cx="91440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1">
                <a:solidFill>
                  <a:srgbClr val="0F2D52"/>
                </a:solidFill>
                <a:latin typeface="Georgia"/>
              </a:rPr>
              <a:t>Bug a design: 1x. In coding: 5x. In testing: 10x. In produzione: 100x.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86000" y="5029200"/>
            <a:ext cx="1828800" cy="0"/>
          </a:xfrm>
          <a:prstGeom prst="line">
            <a:avLst/>
          </a:prstGeom>
          <a:ln w="381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286000" y="521208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— IBM Cost of a Data Breach Report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OWASP Top 10 (2021/2025)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Vulnerabilità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Esempio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Broken Access Control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Cambi ?id=42 in ?id=43, vedi dati altrui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Cryptographic Failures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Password in MD5, HTTPS mancante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Injection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SQL Injection, XSS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Insecure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Manca threat modeling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Security Misconfiguration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debug=True in prod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Vulnerable 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Libreria con CVE nota (Log4Shell)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Auth Failures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Login senza rate limit, no MFA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Software &amp; Data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Aggiornamenti non verificati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Logging Failures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Non rilevi il breach per 200 giorni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SSRF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App fetcha URL fornito dall'utente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CVSS: bande di gravità (0-10)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Range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Azione tipica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0.1 – 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Programma il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4.0 – 6.9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Fix nel prossimo sprint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7.0 – 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Patcha entro 30 giorni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9.0 – 10.0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Patcha SUBITO (Log4Shell = 10.0)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Threat 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30 minuti di carta + lavagna salvano ore di refactor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❓  Le 4 domande di Adam Shostack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Cosa stiamo costruendo? → disegna il sistema (DFD)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Cosa può andare storto? → applica STRIDE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Cosa facciamo a riguardo? → mitiga / accetta / elimina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4. Abbiamo fatto un buon lavoro? → review e iterazione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Si fa PRIMA di scrivere codice. Su carta, in 30-60 minuti.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STRIDE — sei lettere, sei categorie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Lettera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Esempio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Spoofing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Fingersi qualcun altro (account takeover)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Tampering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Modificare dati (cookie, payload)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Repudiation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Negare di aver fatto un'azione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Information Disclosure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Esporre dati (stack trace, SQLi)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Denial of Service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Rendere indisponibile (DDoS)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Elevation of Privilege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IDOR, bypass authz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DFD: esempio su mini-blog</a:t>
            </a:r>
          </a:p>
        </p:txBody>
      </p:sp>
      <p:pic>
        <p:nvPicPr>
          <p:cNvPr id="4" name="Picture 3" descr="cap2_dfd_mini_b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Data Flow Diagram con trust boundary tra Internet/server e server/DB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STRIDE applicato al mini-blog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STRIDE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Minaccia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Difesa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Utente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Account takeover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bcrypt + MFA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Webapp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Modifica cookie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Cookie firmato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Webapp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Stack trace su 500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Error handler generico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Webapp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Brute force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Rate limit 5/min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Webapp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SQLi → admin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Query parametrizzate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Backup esposto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Cifratura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Flusso utente↔web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Sniffing Wi-Fi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HTTPS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✏  Workshop in aula (30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A coppie: applica STRIDE a un e-commerce piccolo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registrazione · login · ricerca · ordine · pagamento Stripe · email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Output richiesto: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Disegno DFD (≥4 processi, 2 datastore, 2 trust boundary)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Tabella STRIDE con ≥8 minacce sparse tra le 6 categorie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Una mitigazione per ogni minaccia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📌  Cosa portare a casa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4401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401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4401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4401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OWASP Top 10: impara almeno i primi 5 a memoria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3545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545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3545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3545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CVE = identificatore, CVSS = punteggio 0-10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689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689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32689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2689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Threat modeling = 4 domande di Shostack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833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833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41833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1833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STRIDE = checklist sistematica, 6 categorie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0977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977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50977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0" y="50977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Trust boundary = ogni attraversamento è opportunità d'attacco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Per approfondire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Cosa leggere prima della prossima lezione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15400" y="2286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9840" y="3749040"/>
            <a:ext cx="1645920" cy="164592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4800600"/>
            <a:ext cx="1371600" cy="13716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840480"/>
            <a:ext cx="2926080" cy="0"/>
          </a:xfrm>
          <a:prstGeom prst="line">
            <a:avLst/>
          </a:prstGeom>
          <a:ln w="508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0A0B0"/>
                </a:solidFill>
                <a:latin typeface="Calibri"/>
              </a:rPr>
              <a:t>Riepilogo · Q&amp;A · Discussione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058400" cy="91440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1">
                <a:solidFill>
                  <a:srgbClr val="FFFFFF"/>
                </a:solidFill>
                <a:latin typeface="Calibri"/>
              </a:rPr>
              <a:t>➜  Prossima lezione: L3 — SQL Injection (il cuore tecnico)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