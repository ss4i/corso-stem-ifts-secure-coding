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914400"/>
            <a:ext cx="2743200" cy="27432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1371600"/>
            <a:ext cx="1828800" cy="18288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58200" y="3429000"/>
            <a:ext cx="2286000" cy="22860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228600" cy="27432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0A0B0"/>
                </a:solidFill>
                <a:latin typeface="Calibri"/>
              </a:rPr>
              <a:t>LEZIONE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051560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Input validation e supply 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6FD8E0"/>
                </a:solidFill>
                <a:latin typeface="Calibri"/>
              </a:rPr>
              <a:t>Pydantic, path traversal, il rischio delle dipendenze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69280"/>
            <a:ext cx="2011680" cy="411480"/>
          </a:xfrm>
          <a:prstGeom prst="roundRect">
            <a:avLst>
              <a:gd name="adj" fmla="val 8000"/>
            </a:avLst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6928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⏱  Lezione 6 · 2 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BD0D8"/>
                </a:solidFill>
                <a:latin typeface="Calibri"/>
              </a:rPr>
              <a:t>Corso IFTS STEM · Ing. Alessandro Manneschi · 2024/2025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🎯  Obiettivi della lezione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22860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0" b="1" i="0">
                <a:solidFill>
                  <a:srgbClr val="F1F4F8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1">
                <a:solidFill>
                  <a:srgbClr val="00A0B0"/>
                </a:solidFill>
                <a:latin typeface="Calibri"/>
              </a:rPr>
              <a:t>obiettivi</a:t>
            </a:r>
          </a:p>
        </p:txBody>
      </p:sp>
      <p:sp>
        <p:nvSpPr>
          <p:cNvPr id="6" name="Oval 5"/>
          <p:cNvSpPr/>
          <p:nvPr/>
        </p:nvSpPr>
        <p:spPr>
          <a:xfrm>
            <a:off x="3200400" y="118872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18872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26187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Distinguere validation, sanitization e encoding</a:t>
            </a:r>
          </a:p>
        </p:txBody>
      </p:sp>
      <p:sp>
        <p:nvSpPr>
          <p:cNvPr id="9" name="Oval 8"/>
          <p:cNvSpPr/>
          <p:nvPr/>
        </p:nvSpPr>
        <p:spPr>
          <a:xfrm>
            <a:off x="3200400" y="196596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96596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03911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Capire perché whitelist &gt; blacklist</a:t>
            </a:r>
          </a:p>
        </p:txBody>
      </p:sp>
      <p:sp>
        <p:nvSpPr>
          <p:cNvPr id="12" name="Oval 11"/>
          <p:cNvSpPr/>
          <p:nvPr/>
        </p:nvSpPr>
        <p:spPr>
          <a:xfrm>
            <a:off x="3200400" y="274320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74320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81635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Usare Pydantic per validation strutturata in Python</a:t>
            </a:r>
          </a:p>
        </p:txBody>
      </p:sp>
      <p:sp>
        <p:nvSpPr>
          <p:cNvPr id="15" name="Oval 14"/>
          <p:cNvSpPr/>
          <p:nvPr/>
        </p:nvSpPr>
        <p:spPr>
          <a:xfrm>
            <a:off x="3200400" y="352044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352044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59359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Riconoscere e correggere il path traversal</a:t>
            </a:r>
          </a:p>
        </p:txBody>
      </p:sp>
      <p:sp>
        <p:nvSpPr>
          <p:cNvPr id="18" name="Oval 17"/>
          <p:cNvSpPr/>
          <p:nvPr/>
        </p:nvSpPr>
        <p:spPr>
          <a:xfrm>
            <a:off x="3200400" y="429768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429768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37083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Scoprire CVE nelle dipendenze con pip-audit</a:t>
            </a:r>
          </a:p>
        </p:txBody>
      </p:sp>
      <p:sp>
        <p:nvSpPr>
          <p:cNvPr id="21" name="Oval 20"/>
          <p:cNvSpPr/>
          <p:nvPr/>
        </p:nvSpPr>
        <p:spPr>
          <a:xfrm>
            <a:off x="3200400" y="507492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0" y="507492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514807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Comprendere SBOM e Cyber Resilience Act (2027)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L6  ·  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Validation vs Sanitization vs Encoding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12344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Operazione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Cosa fa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Quando si usa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Verifica + rifiuta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All'ENTRATA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Sanitization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Modifica + tiene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Per struttura ricca (HTML)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Encoding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Trasforma all'uscita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All'USCITA, per contesto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L6  ·  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Whitelist vs Blacklist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5486400" cy="640080"/>
          </a:xfrm>
          <a:prstGeom prst="roundRect">
            <a:avLst>
              <a:gd name="adj" fmla="val 8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486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BLACKLIST (anti-pattern)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254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s.replace("'", "")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Blocco questi caratteri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Problemi: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lista sempre incompleta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bypass con encoding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bypass con Unicode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l'attaccante è creativo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Strategia perdente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51560"/>
            <a:ext cx="5486400" cy="640080"/>
          </a:xfrm>
          <a:prstGeom prst="roundRect">
            <a:avLst>
              <a:gd name="adj" fmla="val 8000"/>
            </a:avLst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051560"/>
            <a:ext cx="5486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WHITELIST (corretto)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25400">
            <a:solidFill>
              <a:srgbClr val="06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regex r"^[a-zA-Z0-9_]{3,20}$"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Accetto solo questi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Vantaggi: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definito ed esplicito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rifiuta tutto il resto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aggiungi consapevolmente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Strategia robusta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L6  ·  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46720" cy="6858000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8580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103120"/>
            <a:ext cx="3657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0" b="1" i="0">
                <a:solidFill>
                  <a:srgbClr val="00A0B0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6FD8E0"/>
                </a:solidFill>
                <a:latin typeface="Calibri"/>
              </a:rPr>
              <a:t>PARTE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73152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0F2D52"/>
                </a:solidFill>
                <a:latin typeface="Calibri"/>
              </a:rPr>
              <a:t>Pydantic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931920"/>
            <a:ext cx="73152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Validation strutturata, type-safe, dichiarativa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L6  ·  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Pydantic — esempio completo</a:t>
            </a:r>
          </a:p>
        </p:txBody>
      </p:sp>
      <p:pic>
        <p:nvPicPr>
          <p:cNvPr id="4" name="Picture 3" descr="cap6_pydan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88136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Modello con type hints, vincoli, e validator custom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L6  ·  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46720" cy="6858000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8580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103120"/>
            <a:ext cx="3657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0" b="1" i="0">
                <a:solidFill>
                  <a:srgbClr val="00A0B0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6FD8E0"/>
                </a:solidFill>
                <a:latin typeface="Calibri"/>
              </a:rPr>
              <a:t>PARTE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73152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0F2D52"/>
                </a:solidFill>
                <a:latin typeface="Calibri"/>
              </a:rPr>
              <a:t>Path Traversal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931920"/>
            <a:ext cx="73152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Quando un parametro filename diventa una porta aperta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L6  ·  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Codice vulnerabile (path traversal)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164592"/>
            <a:ext cx="2194560" cy="457200"/>
          </a:xfrm>
          <a:prstGeom prst="roundRect">
            <a:avLst>
              <a:gd name="adj" fmla="val 8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0" y="164592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🚩 ANTI-PATTERN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solidFill>
            <a:srgbClr val="2D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1216152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216152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1216152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612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CBD0D8"/>
                </a:solidFill>
                <a:latin typeface="Calibri"/>
              </a:rPr>
              <a:t>  app.py  —  python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1247120" cy="4206240"/>
          </a:xfrm>
          <a:prstGeom prst="rect">
            <a:avLst/>
          </a:prstGeom>
          <a:solidFill>
            <a:srgbClr val="1E1E28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457200" cy="4206240"/>
          </a:xfrm>
          <a:prstGeom prst="rect">
            <a:avLst/>
          </a:prstGeom>
          <a:solidFill>
            <a:srgbClr val="24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600200"/>
            <a:ext cx="106070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@app.route("/download")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def download():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filename = request.args.get("file")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return send_file(f"./uploads/{filename}")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Attacco: GET /download?file=../etc/passwd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Path costruito: ./uploads/../etc/passwd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OS lo risolve a: /etc/passwd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→ L'attaccante legge file di sistema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Bypass del filtro ingenuo: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  ../../etc/passwd       (più livelli)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  ....//....//etc/passwd (filtro ../ ingenuo)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  ..%2f..%2fetc%2fpasswd (URL encoded)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600200"/>
            <a:ext cx="3657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2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3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4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5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6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7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8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9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10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11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12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13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1">
                <a:solidFill>
                  <a:srgbClr val="E63946"/>
                </a:solidFill>
                <a:latin typeface="Calibri"/>
              </a:rPr>
              <a:t>⚠  Vale anche per /var/myapp/secrets, /home/user/.ssh/id_rsa, ...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L6  ·  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Correzione: 3 controlli obbligatori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164592"/>
            <a:ext cx="2194560" cy="457200"/>
          </a:xfrm>
          <a:prstGeom prst="roundRect">
            <a:avLst>
              <a:gd name="adj" fmla="val 8000"/>
            </a:avLst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0" y="164592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✅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solidFill>
            <a:srgbClr val="2D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1216152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216152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1216152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612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CBD0D8"/>
                </a:solidFill>
                <a:latin typeface="Calibri"/>
              </a:rPr>
              <a:t>  app.py  —  python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1247120" cy="4206240"/>
          </a:xfrm>
          <a:prstGeom prst="rect">
            <a:avLst/>
          </a:prstGeom>
          <a:solidFill>
            <a:srgbClr val="1E1E28"/>
          </a:solidFill>
          <a:ln w="19050">
            <a:solidFill>
              <a:srgbClr val="06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457200" cy="4206240"/>
          </a:xfrm>
          <a:prstGeom prst="rect">
            <a:avLst/>
          </a:prstGeom>
          <a:solidFill>
            <a:srgbClr val="24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600200"/>
            <a:ext cx="106070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import os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from flask import abort, send_from_directory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UPLOAD_DIR = os.path.realpath("./uploads")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ALLOWED_EXTS = {".pdf", ".png", ".jpg"}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@app.route("/download")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@login_required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def download():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filename = request.args.get("file", "")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# 1) Whitelist: niente separatori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if "/" in filename or "\\" in filename or filename.startswith("."):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    abort(400)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# 2) Whitelist estensione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if os.path.splitext(filename)[1].lower() not in ALLOWED_EXTS: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    abort(400)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# 3) realpath + startswith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full = os.path.realpath(os.path.join(UPLOAD_DIR, filename))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if not full.startswith(UPLOAD_DIR + os.sep):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    abort(403)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return send_from_directory(UPLOAD_DIR, filename, as_attachment=True)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600200"/>
            <a:ext cx="3657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2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3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4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5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6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7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8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9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10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11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12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13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14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15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16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17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18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19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20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1">
                <a:solidFill>
                  <a:srgbClr val="06A77D"/>
                </a:solidFill>
                <a:latin typeface="Calibri"/>
              </a:rPr>
              <a:t>✓  Quattro righe di controllo, tre attacchi neutralizzati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L6  ·  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46720" cy="6858000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8580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103120"/>
            <a:ext cx="3657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0" b="1" i="0">
                <a:solidFill>
                  <a:srgbClr val="00A0B0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6FD8E0"/>
                </a:solidFill>
                <a:latin typeface="Calibri"/>
              </a:rPr>
              <a:t>PARTE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73152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0F2D52"/>
                </a:solidFill>
                <a:latin typeface="Calibri"/>
              </a:rPr>
              <a:t>Supply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931920"/>
            <a:ext cx="73152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Il tuo codice è il 5%. Il resto sono dipendenze.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L6  ·  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📦  Caso reale: Log4Shell (dicembre 2021)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CVE-2021-44228 — Log4j (libreria logging Java)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CVSS: 10.0 (massimo)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Stringa nel User-Agent → RCE sul server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Impatto: ~10% dei server enterprise al mondo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Mezza Internet ha patchato in emergenza per 2 settimane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Chi aveva SBOM: identificato in 5 minuti dove era vulnerabile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L6  ·  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pip-audit in azione</a:t>
            </a:r>
          </a:p>
        </p:txBody>
      </p:sp>
      <p:pic>
        <p:nvPicPr>
          <p:cNvPr id="4" name="Picture 3" descr="cap6_pip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88136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Trovi le CVE → aggiorni → zero vulnerabilità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L6  ·  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📜  SBOM e Cyber Resilience Act (dicembre 2027)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00A0B0"/>
                </a:solidFill>
                <a:latin typeface="Calibri"/>
              </a:rPr>
              <a:t>Iniziate a familiarizzare con pip-audit e cyclonedx-bom ADESSO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SBOM = Software Bill of Materials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Lista completa delle dipendenze del prodotto (versioni, hash)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Formati: CycloneDX, SPDX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Cyber Resilience Act (Reg. UE 2024/2847):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In vigore pieno: DICEMBRE 2027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Per ogni 'prodotto digitale' venduto in UE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Obblighi: SBOM pubblicato · niente CVE note alla vendita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       · patching ≥5 anni · notifica 24h vulnerabilità sfruttate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       · sanzioni fino a 15M€ o 2,5% fatturato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L6  ·  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📌  Cosa portare a casa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4401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401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14401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4401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Validation, sanitization, encoding: cose DIVERSE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3545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45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23545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3545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Whitelist sempre. Blacklist mai.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689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689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32689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32689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Pydantic per validation strutturata in Python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1833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833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41833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41833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Path traversal: 3 controlli obbligatori (whitelist, ext, realpath)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50977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977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" y="50977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50977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pip-audit + SBOM obbligatori dal 2027 (CRA)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L6  ·  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15400" y="228600"/>
            <a:ext cx="2286000" cy="22860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3749040"/>
            <a:ext cx="1645920" cy="164592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4800600"/>
            <a:ext cx="1371600" cy="13716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0" b="1" i="0">
                <a:solidFill>
                  <a:srgbClr val="FFFFFF"/>
                </a:solidFill>
                <a:latin typeface="Calibri"/>
              </a:rPr>
              <a:t>Domande?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3840480"/>
            <a:ext cx="2926080" cy="0"/>
          </a:xfrm>
          <a:prstGeom prst="line">
            <a:avLst/>
          </a:prstGeom>
          <a:ln w="5080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0A0B0"/>
                </a:solidFill>
                <a:latin typeface="Calibri"/>
              </a:rPr>
              <a:t>Riepilogo · Q&amp;A · Discussione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058400" cy="914400"/>
          </a:xfrm>
          <a:prstGeom prst="roundRect">
            <a:avLst>
              <a:gd name="adj" fmla="val 8000"/>
            </a:avLst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029200"/>
            <a:ext cx="978408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 i="1">
                <a:solidFill>
                  <a:srgbClr val="FFFFFF"/>
                </a:solidFill>
                <a:latin typeface="Calibri"/>
              </a:rPr>
              <a:t>➜  Prossima lezione: L7 — Documentazione sicurezza + uso responsabile AI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L6  ·  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