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0" y="-914400"/>
            <a:ext cx="2743200" cy="2743200"/>
          </a:xfrm>
          <a:prstGeom prst="ellipse">
            <a:avLst/>
          </a:prstGeom>
          <a:noFill/>
          <a:ln w="25400">
            <a:solidFill>
              <a:srgbClr val="00A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15600" y="1371600"/>
            <a:ext cx="1828800" cy="1828800"/>
          </a:xfrm>
          <a:prstGeom prst="ellipse">
            <a:avLst/>
          </a:prstGeom>
          <a:noFill/>
          <a:ln w="25400">
            <a:solidFill>
              <a:srgbClr val="00A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458200" y="3429000"/>
            <a:ext cx="2286000" cy="2286000"/>
          </a:xfrm>
          <a:prstGeom prst="ellipse">
            <a:avLst/>
          </a:prstGeom>
          <a:noFill/>
          <a:ln w="25400">
            <a:solidFill>
              <a:srgbClr val="00A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286000"/>
            <a:ext cx="228600" cy="2743200"/>
          </a:xfrm>
          <a:prstGeom prst="rect">
            <a:avLst/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286000"/>
            <a:ext cx="73152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00A0B0"/>
                </a:solidFill>
                <a:latin typeface="Calibri"/>
              </a:rPr>
              <a:t>LEZIONE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10515600" cy="2011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5600" b="1" i="0">
                <a:solidFill>
                  <a:srgbClr val="FFFFFF"/>
                </a:solidFill>
                <a:latin typeface="Calibri"/>
              </a:rPr>
              <a:t>SQL Injection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572000"/>
            <a:ext cx="100584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0" i="1">
                <a:solidFill>
                  <a:srgbClr val="6FD8E0"/>
                </a:solidFill>
                <a:latin typeface="Calibri"/>
              </a:rPr>
              <a:t>La vulnerabilità #1 dal 2003. Capirla e correggerla.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669280"/>
            <a:ext cx="2011680" cy="411480"/>
          </a:xfrm>
          <a:prstGeom prst="roundRect">
            <a:avLst>
              <a:gd name="adj" fmla="val 8000"/>
            </a:avLst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5669280"/>
            <a:ext cx="20116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⏱  Lezione 3 · 2 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2636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CBD0D8"/>
                </a:solidFill>
                <a:latin typeface="Calibri"/>
              </a:rPr>
              <a:t>Corso IFTS STEM · Ing. Alessandro Manneschi · 2024/2025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🎯  Obiettivi della lezione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2286000" cy="2286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0" b="1" i="0">
                <a:solidFill>
                  <a:srgbClr val="F1F4F8"/>
                </a:solidFill>
                <a:latin typeface="Calibri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2286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1">
                <a:solidFill>
                  <a:srgbClr val="00A0B0"/>
                </a:solidFill>
                <a:latin typeface="Calibri"/>
              </a:rPr>
              <a:t>obiettivi</a:t>
            </a:r>
          </a:p>
        </p:txBody>
      </p:sp>
      <p:sp>
        <p:nvSpPr>
          <p:cNvPr id="6" name="Oval 5"/>
          <p:cNvSpPr/>
          <p:nvPr/>
        </p:nvSpPr>
        <p:spPr>
          <a:xfrm>
            <a:off x="3200400" y="1188720"/>
            <a:ext cx="548640" cy="548640"/>
          </a:xfrm>
          <a:prstGeom prst="ellipse">
            <a:avLst/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0" y="1188720"/>
            <a:ext cx="5486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1261872"/>
            <a:ext cx="77724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  <a:latin typeface="Calibri"/>
              </a:rPr>
              <a:t>Riconoscere a vista una SQL Injection nel codice</a:t>
            </a:r>
          </a:p>
        </p:txBody>
      </p:sp>
      <p:sp>
        <p:nvSpPr>
          <p:cNvPr id="9" name="Oval 8"/>
          <p:cNvSpPr/>
          <p:nvPr/>
        </p:nvSpPr>
        <p:spPr>
          <a:xfrm>
            <a:off x="3200400" y="1965960"/>
            <a:ext cx="548640" cy="548640"/>
          </a:xfrm>
          <a:prstGeom prst="ellipse">
            <a:avLst/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0" y="1965960"/>
            <a:ext cx="5486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2039112"/>
            <a:ext cx="77724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  <a:latin typeface="Calibri"/>
              </a:rPr>
              <a:t>Eseguire login bypass con ' OR '1'='1' --</a:t>
            </a:r>
          </a:p>
        </p:txBody>
      </p:sp>
      <p:sp>
        <p:nvSpPr>
          <p:cNvPr id="12" name="Oval 11"/>
          <p:cNvSpPr/>
          <p:nvPr/>
        </p:nvSpPr>
        <p:spPr>
          <a:xfrm>
            <a:off x="3200400" y="2743200"/>
            <a:ext cx="548640" cy="548640"/>
          </a:xfrm>
          <a:prstGeom prst="ellipse">
            <a:avLst/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0" y="2743200"/>
            <a:ext cx="5486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2816352"/>
            <a:ext cx="77724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  <a:latin typeface="Calibri"/>
              </a:rPr>
              <a:t>Estrarre dati arbitrari con UNION SELECT</a:t>
            </a:r>
          </a:p>
        </p:txBody>
      </p:sp>
      <p:sp>
        <p:nvSpPr>
          <p:cNvPr id="15" name="Oval 14"/>
          <p:cNvSpPr/>
          <p:nvPr/>
        </p:nvSpPr>
        <p:spPr>
          <a:xfrm>
            <a:off x="3200400" y="3520440"/>
            <a:ext cx="548640" cy="548640"/>
          </a:xfrm>
          <a:prstGeom prst="ellipse">
            <a:avLst/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0" y="3520440"/>
            <a:ext cx="5486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3593592"/>
            <a:ext cx="77724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  <a:latin typeface="Calibri"/>
              </a:rPr>
              <a:t>Capire perché filtrare gli apici NON funziona</a:t>
            </a:r>
          </a:p>
        </p:txBody>
      </p:sp>
      <p:sp>
        <p:nvSpPr>
          <p:cNvPr id="18" name="Oval 17"/>
          <p:cNvSpPr/>
          <p:nvPr/>
        </p:nvSpPr>
        <p:spPr>
          <a:xfrm>
            <a:off x="3200400" y="4297680"/>
            <a:ext cx="548640" cy="548640"/>
          </a:xfrm>
          <a:prstGeom prst="ellipse">
            <a:avLst/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0" y="4297680"/>
            <a:ext cx="5486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60" y="4370832"/>
            <a:ext cx="77724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  <a:latin typeface="Calibri"/>
              </a:rPr>
              <a:t>Correggere con query parametrizzate (Python, Java, PHP, JS)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 · 2024/2025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73952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L3  ·  2/15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2286000" cy="2286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0" b="1" i="0">
                <a:solidFill>
                  <a:srgbClr val="00A0B0"/>
                </a:solidFill>
                <a:latin typeface="Georgia"/>
              </a:rPr>
              <a:t>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2286000"/>
            <a:ext cx="9144000" cy="3200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1">
                <a:solidFill>
                  <a:srgbClr val="0F2D52"/>
                </a:solidFill>
                <a:latin typeface="Georgia"/>
              </a:rPr>
              <a:t>Il database deve distinguere tra DATI e ISTRUZIONI. Se non lo fa, sei nei guai.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286000" y="5029200"/>
            <a:ext cx="1828800" cy="0"/>
          </a:xfrm>
          <a:prstGeom prst="line">
            <a:avLst/>
          </a:prstGeom>
          <a:ln w="3810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 · 2024/2025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73952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L3  ·  3/15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Codice vulnerabile</a:t>
            </a:r>
          </a:p>
        </p:txBody>
      </p:sp>
      <p:pic>
        <p:nvPicPr>
          <p:cNvPr id="4" name="Picture 3" descr="cap3_sqli_vulner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97280"/>
            <a:ext cx="1088136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85216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 i="1">
                <a:solidFill>
                  <a:srgbClr val="6B7280"/>
                </a:solidFill>
                <a:latin typeface="Calibri"/>
              </a:rPr>
              <a:t>f-string che mescola struttura SQL e input utente = SQLi garantita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 · 2024/2025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73952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L3  ·  4/15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Anatomia di un attacco</a:t>
            </a:r>
          </a:p>
        </p:txBody>
      </p:sp>
      <p:pic>
        <p:nvPicPr>
          <p:cNvPr id="4" name="Picture 3" descr="cap3_sqli_anatom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97280"/>
            <a:ext cx="1088136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85216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 i="1">
                <a:solidFill>
                  <a:srgbClr val="6B7280"/>
                </a:solidFill>
                <a:latin typeface="Calibri"/>
              </a:rPr>
              <a:t>Login bypass in tre passi: l'attaccante non conosce la password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 · 2024/2025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73952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L3  ·  5/15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L'attacco in pratica (curl)</a:t>
            </a:r>
          </a:p>
        </p:txBody>
      </p:sp>
      <p:pic>
        <p:nvPicPr>
          <p:cNvPr id="4" name="Picture 3" descr="cap3_sqli_att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97280"/>
            <a:ext cx="1088136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85216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 i="1">
                <a:solidFill>
                  <a:srgbClr val="6B7280"/>
                </a:solidFill>
                <a:latin typeface="Calibri"/>
              </a:rPr>
              <a:t>Una richiesta HTTP, una sessione admin. Senza credenziali.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 · 2024/2025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73952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L3  ·  6/15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1440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UNION SELECT — estrazione dati (peggio del bypass)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84080" y="164592"/>
            <a:ext cx="2194560" cy="457200"/>
          </a:xfrm>
          <a:prstGeom prst="roundRect">
            <a:avLst>
              <a:gd name="adj" fmla="val 8000"/>
            </a:avLst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84080" y="164592"/>
            <a:ext cx="219456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🚩 ANTI-PATTERN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solidFill>
            <a:srgbClr val="2D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94360" y="1216152"/>
            <a:ext cx="118872" cy="118872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1216152"/>
            <a:ext cx="118872" cy="118872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1216152"/>
            <a:ext cx="118872" cy="118872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161288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CBD0D8"/>
                </a:solidFill>
                <a:latin typeface="Calibri"/>
              </a:rPr>
              <a:t>  app.py  —  sql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63040"/>
            <a:ext cx="11247120" cy="4206240"/>
          </a:xfrm>
          <a:prstGeom prst="rect">
            <a:avLst/>
          </a:prstGeom>
          <a:solidFill>
            <a:srgbClr val="1E1E28"/>
          </a:solidFill>
          <a:ln w="1905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463040"/>
            <a:ext cx="457200" cy="4206240"/>
          </a:xfrm>
          <a:prstGeom prst="rect">
            <a:avLst/>
          </a:prstGeom>
          <a:solidFill>
            <a:srgbClr val="242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1600200"/>
            <a:ext cx="1060704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>
                <a:solidFill>
                  <a:srgbClr val="E5E5EC"/>
                </a:solidFill>
                <a:latin typeface="Consolas"/>
              </a:rPr>
              <a:t># La pagina /cerca è vulnerabile a SQLi: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>
                <a:solidFill>
                  <a:srgbClr val="E5E5EC"/>
                </a:solidFill>
                <a:latin typeface="Consolas"/>
              </a:rPr>
              <a:t># sql = f"SELECT contenuto FROM messaggi WHERE contenuto LIKE '%{q}%'"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>
                <a:solidFill>
                  <a:srgbClr val="E5E5EC"/>
                </a:solidFill>
                <a:latin typeface="Consolas"/>
              </a:rPr>
              <a:t> 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>
                <a:solidFill>
                  <a:srgbClr val="E5E5EC"/>
                </a:solidFill>
                <a:latin typeface="Consolas"/>
              </a:rPr>
              <a:t># L'attaccante cerca: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>
                <a:solidFill>
                  <a:srgbClr val="E5E5EC"/>
                </a:solidFill>
                <a:latin typeface="Consolas"/>
              </a:rPr>
              <a:t>xyz' UNION SELECT email || ':' || password FROM users --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>
                <a:solidFill>
                  <a:srgbClr val="E5E5EC"/>
                </a:solidFill>
                <a:latin typeface="Consolas"/>
              </a:rPr>
              <a:t> 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>
                <a:solidFill>
                  <a:srgbClr val="E5E5EC"/>
                </a:solidFill>
                <a:latin typeface="Consolas"/>
              </a:rPr>
              <a:t># La query diventa: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>
                <a:solidFill>
                  <a:srgbClr val="E5E5EC"/>
                </a:solidFill>
                <a:latin typeface="Consolas"/>
              </a:rPr>
              <a:t># SELECT contenuto FROM messaggi WHERE contenuto LIKE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>
                <a:solidFill>
                  <a:srgbClr val="E5E5EC"/>
                </a:solidFill>
                <a:latin typeface="Consolas"/>
              </a:rPr>
              <a:t>#     '%xyz' UNION SELECT email || ':' || password FROM users --%'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>
                <a:solidFill>
                  <a:srgbClr val="E5E5EC"/>
                </a:solidFill>
                <a:latin typeface="Consolas"/>
              </a:rPr>
              <a:t> 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>
                <a:solidFill>
                  <a:srgbClr val="E5E5EC"/>
                </a:solidFill>
                <a:latin typeface="Consolas"/>
              </a:rPr>
              <a:t># L'app mostra "messaggi"... ma in realtà mostra TUTTE le password: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>
                <a:solidFill>
                  <a:srgbClr val="E5E5EC"/>
                </a:solidFill>
                <a:latin typeface="Consolas"/>
              </a:rPr>
              <a:t>#   alice@bank.it:alice_pass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>
                <a:solidFill>
                  <a:srgbClr val="E5E5EC"/>
                </a:solidFill>
                <a:latin typeface="Consolas"/>
              </a:rPr>
              <a:t>#   bob@bank.it:bob_pass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>
                <a:solidFill>
                  <a:srgbClr val="E5E5EC"/>
                </a:solidFill>
                <a:latin typeface="Consolas"/>
              </a:rPr>
              <a:t>#   admin@bank.it:Sup3rS3gr3t0!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>
                <a:solidFill>
                  <a:srgbClr val="E5E5EC"/>
                </a:solidFill>
                <a:latin typeface="Consolas"/>
              </a:rPr>
              <a:t> 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1300">
                <a:solidFill>
                  <a:srgbClr val="E5E5EC"/>
                </a:solidFill>
                <a:latin typeface="Consolas"/>
              </a:rPr>
              <a:t># In UNA richiesta: TUTTO il database password rubato.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1600200"/>
            <a:ext cx="36576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6B7280"/>
                </a:solidFill>
                <a:latin typeface="Consolas"/>
              </a:rPr>
              <a:t>1</a:t>
            </a:r>
          </a:p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6B7280"/>
                </a:solidFill>
                <a:latin typeface="Consolas"/>
              </a:rPr>
              <a:t>2</a:t>
            </a:r>
          </a:p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6B7280"/>
                </a:solidFill>
                <a:latin typeface="Consolas"/>
              </a:rPr>
              <a:t>3</a:t>
            </a:r>
          </a:p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6B7280"/>
                </a:solidFill>
                <a:latin typeface="Consolas"/>
              </a:rPr>
              <a:t>4</a:t>
            </a:r>
          </a:p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6B7280"/>
                </a:solidFill>
                <a:latin typeface="Consolas"/>
              </a:rPr>
              <a:t>5</a:t>
            </a:r>
          </a:p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6B7280"/>
                </a:solidFill>
                <a:latin typeface="Consolas"/>
              </a:rPr>
              <a:t>6</a:t>
            </a:r>
          </a:p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6B7280"/>
                </a:solidFill>
                <a:latin typeface="Consolas"/>
              </a:rPr>
              <a:t>7</a:t>
            </a:r>
          </a:p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6B7280"/>
                </a:solidFill>
                <a:latin typeface="Consolas"/>
              </a:rPr>
              <a:t>8</a:t>
            </a:r>
          </a:p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6B7280"/>
                </a:solidFill>
                <a:latin typeface="Consolas"/>
              </a:rPr>
              <a:t>9</a:t>
            </a:r>
          </a:p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6B7280"/>
                </a:solidFill>
                <a:latin typeface="Consolas"/>
              </a:rPr>
              <a:t>10</a:t>
            </a:r>
          </a:p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6B7280"/>
                </a:solidFill>
                <a:latin typeface="Consolas"/>
              </a:rPr>
              <a:t>11</a:t>
            </a:r>
          </a:p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6B7280"/>
                </a:solidFill>
                <a:latin typeface="Consolas"/>
              </a:rPr>
              <a:t>12</a:t>
            </a:r>
          </a:p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6B7280"/>
                </a:solidFill>
                <a:latin typeface="Consolas"/>
              </a:rPr>
              <a:t>13</a:t>
            </a:r>
          </a:p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6B7280"/>
                </a:solidFill>
                <a:latin typeface="Consolas"/>
              </a:rPr>
              <a:t>14</a:t>
            </a:r>
          </a:p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6B7280"/>
                </a:solidFill>
                <a:latin typeface="Consolas"/>
              </a:rPr>
              <a:t>15</a:t>
            </a:r>
          </a:p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6B7280"/>
                </a:solidFill>
                <a:latin typeface="Consolas"/>
              </a:rPr>
              <a:t>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852160"/>
            <a:ext cx="112471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1">
                <a:solidFill>
                  <a:srgbClr val="E63946"/>
                </a:solidFill>
                <a:latin typeface="Calibri"/>
              </a:rPr>
              <a:t>⚠  Login bypass + UNION SELECT = takeover di ogni account in &lt;30 secondi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 · 2024/2025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73952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L3  ·  7/15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8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0" y="0"/>
            <a:ext cx="8046720" cy="6858000"/>
          </a:xfrm>
          <a:prstGeom prst="rect">
            <a:avLst/>
          </a:prstGeom>
          <a:solidFill>
            <a:srgbClr val="F1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0" y="0"/>
            <a:ext cx="137160" cy="6858000"/>
          </a:xfrm>
          <a:prstGeom prst="rect">
            <a:avLst/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2103120"/>
            <a:ext cx="3657600" cy="2286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0" b="1" i="0">
                <a:solidFill>
                  <a:srgbClr val="00A0B0"/>
                </a:solidFill>
                <a:latin typeface="Calibr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572000"/>
            <a:ext cx="3657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000" b="1" i="0">
                <a:solidFill>
                  <a:srgbClr val="6FD8E0"/>
                </a:solidFill>
                <a:latin typeface="Calibri"/>
              </a:rPr>
              <a:t>PARTE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286000"/>
            <a:ext cx="7315200" cy="1645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400" b="1" i="0">
                <a:solidFill>
                  <a:srgbClr val="0F2D52"/>
                </a:solidFill>
                <a:latin typeface="Calibri"/>
              </a:rPr>
              <a:t>La correzione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3931920"/>
            <a:ext cx="7315200" cy="1828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1">
                <a:solidFill>
                  <a:srgbClr val="6B7280"/>
                </a:solidFill>
                <a:latin typeface="Calibri"/>
              </a:rPr>
              <a:t>Separare struttura SQL da dati. Sempre.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 · 2024/2025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73952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L3  ·  8/15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Versione corretta</a:t>
            </a:r>
          </a:p>
        </p:txBody>
      </p:sp>
      <p:pic>
        <p:nvPicPr>
          <p:cNvPr id="4" name="Picture 3" descr="cap3_sqli_saf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97280"/>
            <a:ext cx="1088136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85216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 i="1">
                <a:solidFill>
                  <a:srgbClr val="6B7280"/>
                </a:solidFill>
                <a:latin typeface="Calibri"/>
              </a:rPr>
              <a:t>Query parametrizzata: il driver tratta i dati come VALORI, mai come SQL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 · 2024/2025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73952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L3  ·  9/15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Filtrare gli apici NON funziona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5486400" cy="640080"/>
          </a:xfrm>
          <a:prstGeom prst="roundRect">
            <a:avLst>
              <a:gd name="adj" fmla="val 8000"/>
            </a:avLst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548640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Tentativo ingenuo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737360"/>
            <a:ext cx="5486400" cy="4572000"/>
          </a:xfrm>
          <a:prstGeom prst="roundRect">
            <a:avLst>
              <a:gd name="adj" fmla="val 8000"/>
            </a:avLst>
          </a:prstGeom>
          <a:solidFill>
            <a:srgbClr val="FBFBFD"/>
          </a:solidFill>
          <a:ln w="2540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500" b="1">
                <a:solidFill>
                  <a:srgbClr val="E63946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Calibri"/>
              </a:rPr>
              <a:t>s = s.replace("'", "")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500" b="1">
                <a:solidFill>
                  <a:srgbClr val="E63946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Calibri"/>
              </a:rPr>
              <a:t>Sembra di essere protetti...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500" b="1">
                <a:solidFill>
                  <a:srgbClr val="E63946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Calibri"/>
              </a:rPr>
              <a:t/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500" b="1">
                <a:solidFill>
                  <a:srgbClr val="E63946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Calibri"/>
              </a:rPr>
              <a:t>Bypass: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500" b="1">
                <a:solidFill>
                  <a:srgbClr val="E63946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Calibri"/>
              </a:rPr>
              <a:t>  %27 (URL encoded)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500" b="1">
                <a:solidFill>
                  <a:srgbClr val="E63946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Calibri"/>
              </a:rPr>
              <a:t>  \\' (escape)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500" b="1">
                <a:solidFill>
                  <a:srgbClr val="E63946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Calibri"/>
              </a:rPr>
              <a:t>  " (doppi apici)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500" b="1">
                <a:solidFill>
                  <a:srgbClr val="E63946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Calibri"/>
              </a:rPr>
              <a:t>  ʼ (Unicode lookalike)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500" b="1">
                <a:solidFill>
                  <a:srgbClr val="E63946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Calibri"/>
              </a:rPr>
              <a:t>  1 OR 1=1 (numerica)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051560"/>
            <a:ext cx="5486400" cy="640080"/>
          </a:xfrm>
          <a:prstGeom prst="roundRect">
            <a:avLst>
              <a:gd name="adj" fmla="val 8000"/>
            </a:avLst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1051560"/>
            <a:ext cx="548640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Soluzione corretta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737360"/>
            <a:ext cx="5486400" cy="4572000"/>
          </a:xfrm>
          <a:prstGeom prst="roundRect">
            <a:avLst>
              <a:gd name="adj" fmla="val 8000"/>
            </a:avLst>
          </a:prstGeom>
          <a:solidFill>
            <a:srgbClr val="FBFBFD"/>
          </a:solidFill>
          <a:ln w="25400">
            <a:solidFill>
              <a:srgbClr val="06A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874519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500" b="1">
                <a:solidFill>
                  <a:srgbClr val="06A77D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Calibri"/>
              </a:rPr>
              <a:t>Query parametrizzate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500" b="1">
                <a:solidFill>
                  <a:srgbClr val="06A77D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Calibri"/>
              </a:rPr>
              <a:t>Separi STRUTTURA da DATI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500" b="1">
                <a:solidFill>
                  <a:srgbClr val="06A77D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Calibri"/>
              </a:rPr>
              <a:t/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500" b="1">
                <a:solidFill>
                  <a:srgbClr val="06A77D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Calibri"/>
              </a:rPr>
              <a:t>Il driver tratta i dati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500" b="1">
                <a:solidFill>
                  <a:srgbClr val="06A77D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Calibri"/>
              </a:rPr>
              <a:t>come VALORI, mai come SQL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500" b="1">
                <a:solidFill>
                  <a:srgbClr val="06A77D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Calibri"/>
              </a:rPr>
              <a:t/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500" b="1">
                <a:solidFill>
                  <a:srgbClr val="06A77D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Calibri"/>
              </a:rPr>
              <a:t>Anche con QUALUNQUE input,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500" b="1">
                <a:solidFill>
                  <a:srgbClr val="06A77D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Calibri"/>
              </a:rPr>
              <a:t>non viene interpretato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500" b="1">
                <a:solidFill>
                  <a:srgbClr val="06A77D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Calibri"/>
              </a:rPr>
              <a:t/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500" b="1">
                <a:solidFill>
                  <a:srgbClr val="06A77D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Calibri"/>
              </a:rPr>
              <a:t>Whitelist &gt; Blacklist (sempre)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 · 2024/2025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73952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L3  ·  10/15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Cross-linguaggio: la stessa idea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24712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705394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Linguaggio</a:t>
                      </a:r>
                    </a:p>
                  </a:txBody>
                  <a:tcPr>
                    <a:solidFill>
                      <a:srgbClr val="0F2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Pattern parametrizzato</a:t>
                      </a:r>
                    </a:p>
                  </a:txBody>
                  <a:tcPr>
                    <a:solidFill>
                      <a:srgbClr val="0F2D52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Python sqlite3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cursor.execute("... = ?", (val,))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Python psycopg2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cursor.execute("... = %s", (val,))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Java JDBC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ps = conn.prepareStatement("... = ?")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PHP PDO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$stmt = $pdo-&gt;prepare("... = ?")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JS better-sqlite3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db.prepare("... = ?").get(val)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  <a:tr h="70539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ORM (SQLAlchemy, ...)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User.query.filter_by(email=email).first()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5" name="Connector 4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 · 2024/2025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73952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L3  ·  11/15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🛡  Difese in profondità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1. Query parametrizzate (difesa PRIMARIA, non sostituibile)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2. ORM (forza il pattern corretto)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3. Least privilege per l'utente DB (no DROP/CREATE/GRANT)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4. Errori generici al client, dettagli nei log interni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5. WAF (Web Application Firewall) come strato aggiuntivo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6. Rate limiting sul login (anti brute force)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7. Audit log dei tentativi sospetti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 · 2024/2025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73952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L3  ·  12/15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📌  Cosa portare a casa</a:t>
            </a:r>
          </a:p>
        </p:txBody>
      </p:sp>
      <p:sp>
        <p:nvSpPr>
          <p:cNvPr id="4" name="Oval 3"/>
          <p:cNvSpPr/>
          <p:nvPr/>
        </p:nvSpPr>
        <p:spPr>
          <a:xfrm>
            <a:off x="914400" y="1440180"/>
            <a:ext cx="777240" cy="777240"/>
          </a:xfrm>
          <a:prstGeom prst="ellipse">
            <a:avLst/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40180"/>
            <a:ext cx="77724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11680" y="1440180"/>
            <a:ext cx="9144000" cy="777240"/>
          </a:xfrm>
          <a:prstGeom prst="roundRect">
            <a:avLst>
              <a:gd name="adj" fmla="val 8000"/>
            </a:avLst>
          </a:prstGeom>
          <a:solidFill>
            <a:srgbClr val="FBFBFD"/>
          </a:solidFill>
          <a:ln w="19050">
            <a:solidFill>
              <a:srgbClr val="00A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0" y="1440180"/>
            <a:ext cx="8686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00" b="0" i="0">
                <a:solidFill>
                  <a:srgbClr val="1A1A2E"/>
                </a:solidFill>
                <a:latin typeface="Calibri"/>
              </a:rPr>
              <a:t>SQLi è la #1 dal 2003: Equifax, Heartland, TalkTalk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2354580"/>
            <a:ext cx="777240" cy="777240"/>
          </a:xfrm>
          <a:prstGeom prst="ellipse">
            <a:avLst/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54580"/>
            <a:ext cx="77724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11680" y="2354580"/>
            <a:ext cx="9144000" cy="777240"/>
          </a:xfrm>
          <a:prstGeom prst="roundRect">
            <a:avLst>
              <a:gd name="adj" fmla="val 8000"/>
            </a:avLst>
          </a:prstGeom>
          <a:solidFill>
            <a:srgbClr val="FBFBFD"/>
          </a:solidFill>
          <a:ln w="19050">
            <a:solidFill>
              <a:srgbClr val="00A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86000" y="2354580"/>
            <a:ext cx="8686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00" b="0" i="0">
                <a:solidFill>
                  <a:srgbClr val="1A1A2E"/>
                </a:solidFill>
                <a:latin typeface="Calibri"/>
              </a:rPr>
              <a:t>Mai f-string in SQL. Mai concatenazione. Sempre placeholder ?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268980"/>
            <a:ext cx="777240" cy="777240"/>
          </a:xfrm>
          <a:prstGeom prst="ellipse">
            <a:avLst/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268980"/>
            <a:ext cx="77724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11680" y="3268980"/>
            <a:ext cx="9144000" cy="777240"/>
          </a:xfrm>
          <a:prstGeom prst="roundRect">
            <a:avLst>
              <a:gd name="adj" fmla="val 8000"/>
            </a:avLst>
          </a:prstGeom>
          <a:solidFill>
            <a:srgbClr val="FBFBFD"/>
          </a:solidFill>
          <a:ln w="19050">
            <a:solidFill>
              <a:srgbClr val="00A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86000" y="3268980"/>
            <a:ext cx="8686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00" b="0" i="0">
                <a:solidFill>
                  <a:srgbClr val="1A1A2E"/>
                </a:solidFill>
                <a:latin typeface="Calibri"/>
              </a:rPr>
              <a:t>Filtrare gli apici è una strategia perdente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4183380"/>
            <a:ext cx="777240" cy="777240"/>
          </a:xfrm>
          <a:prstGeom prst="ellipse">
            <a:avLst/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183380"/>
            <a:ext cx="77724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011680" y="4183380"/>
            <a:ext cx="9144000" cy="777240"/>
          </a:xfrm>
          <a:prstGeom prst="roundRect">
            <a:avLst>
              <a:gd name="adj" fmla="val 8000"/>
            </a:avLst>
          </a:prstGeom>
          <a:solidFill>
            <a:srgbClr val="FBFBFD"/>
          </a:solidFill>
          <a:ln w="19050">
            <a:solidFill>
              <a:srgbClr val="00A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86000" y="4183380"/>
            <a:ext cx="8686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00" b="0" i="0">
                <a:solidFill>
                  <a:srgbClr val="1A1A2E"/>
                </a:solidFill>
                <a:latin typeface="Calibri"/>
              </a:rPr>
              <a:t>ORM è più sicuro per default</a:t>
            </a:r>
          </a:p>
        </p:txBody>
      </p:sp>
      <p:sp>
        <p:nvSpPr>
          <p:cNvPr id="20" name="Oval 19"/>
          <p:cNvSpPr/>
          <p:nvPr/>
        </p:nvSpPr>
        <p:spPr>
          <a:xfrm>
            <a:off x="914400" y="5097780"/>
            <a:ext cx="777240" cy="777240"/>
          </a:xfrm>
          <a:prstGeom prst="ellipse">
            <a:avLst/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097780"/>
            <a:ext cx="77724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011680" y="5097780"/>
            <a:ext cx="9144000" cy="777240"/>
          </a:xfrm>
          <a:prstGeom prst="roundRect">
            <a:avLst>
              <a:gd name="adj" fmla="val 8000"/>
            </a:avLst>
          </a:prstGeom>
          <a:solidFill>
            <a:srgbClr val="FBFBFD"/>
          </a:solidFill>
          <a:ln w="19050">
            <a:solidFill>
              <a:srgbClr val="00A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86000" y="5097780"/>
            <a:ext cx="8686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00" b="0" i="0">
                <a:solidFill>
                  <a:srgbClr val="1A1A2E"/>
                </a:solidFill>
                <a:latin typeface="Calibri"/>
              </a:rPr>
              <a:t>Difese stratificate: 7 livelli di protezione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 · 2024/2025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473952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L3  ·  13/15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8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0" y="0"/>
            <a:ext cx="8046720" cy="6858000"/>
          </a:xfrm>
          <a:prstGeom prst="rect">
            <a:avLst/>
          </a:prstGeom>
          <a:solidFill>
            <a:srgbClr val="F1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0" y="0"/>
            <a:ext cx="137160" cy="6858000"/>
          </a:xfrm>
          <a:prstGeom prst="rect">
            <a:avLst/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2103120"/>
            <a:ext cx="3657600" cy="2286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0" b="1" i="0">
                <a:solidFill>
                  <a:srgbClr val="00A0B0"/>
                </a:solidFill>
                <a:latin typeface="Calibri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572000"/>
            <a:ext cx="3657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000" b="1" i="0">
                <a:solidFill>
                  <a:srgbClr val="6FD8E0"/>
                </a:solidFill>
                <a:latin typeface="Calibri"/>
              </a:rPr>
              <a:t>PARTE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286000"/>
            <a:ext cx="7315200" cy="1645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400" b="1" i="0">
                <a:solidFill>
                  <a:srgbClr val="0F2D52"/>
                </a:solidFill>
                <a:latin typeface="Calibri"/>
              </a:rPr>
              <a:t>Laboratorio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3931920"/>
            <a:ext cx="7315200" cy="1828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1">
                <a:solidFill>
                  <a:srgbClr val="6B7280"/>
                </a:solidFill>
                <a:latin typeface="Calibri"/>
              </a:rPr>
              <a:t>Mini-banca: app vulnerabile → la sfrutti → la correggi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 · 2024/2025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73952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L3  ·  14/15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15400" y="228600"/>
            <a:ext cx="2286000" cy="2286000"/>
          </a:xfrm>
          <a:prstGeom prst="ellipse">
            <a:avLst/>
          </a:prstGeom>
          <a:noFill/>
          <a:ln w="25400">
            <a:solidFill>
              <a:srgbClr val="00A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149840" y="3749040"/>
            <a:ext cx="1645920" cy="1645920"/>
          </a:xfrm>
          <a:prstGeom prst="ellipse">
            <a:avLst/>
          </a:prstGeom>
          <a:noFill/>
          <a:ln w="25400">
            <a:solidFill>
              <a:srgbClr val="00A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85800" y="4800600"/>
            <a:ext cx="1371600" cy="1371600"/>
          </a:xfrm>
          <a:prstGeom prst="ellipse">
            <a:avLst/>
          </a:prstGeom>
          <a:noFill/>
          <a:ln w="25400">
            <a:solidFill>
              <a:srgbClr val="00A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058400" cy="2286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0" b="1" i="0">
                <a:solidFill>
                  <a:srgbClr val="FFFFFF"/>
                </a:solidFill>
                <a:latin typeface="Calibri"/>
              </a:rPr>
              <a:t>Domande?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31520" y="3840480"/>
            <a:ext cx="2926080" cy="0"/>
          </a:xfrm>
          <a:prstGeom prst="line">
            <a:avLst/>
          </a:prstGeom>
          <a:ln w="5080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31520" y="4114800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00A0B0"/>
                </a:solidFill>
                <a:latin typeface="Calibri"/>
              </a:rPr>
              <a:t>Riepilogo · Q&amp;A · Discussione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029200"/>
            <a:ext cx="10058400" cy="914400"/>
          </a:xfrm>
          <a:prstGeom prst="roundRect">
            <a:avLst>
              <a:gd name="adj" fmla="val 8000"/>
            </a:avLst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5029200"/>
            <a:ext cx="9784080" cy="914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00" b="1" i="1">
                <a:solidFill>
                  <a:srgbClr val="FFFFFF"/>
                </a:solidFill>
                <a:latin typeface="Calibri"/>
              </a:rPr>
              <a:t>➜  Prossima lezione: L4 — IDOR + password hashing (bcrypt)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 · 2024/2025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73952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L3  ·  15/15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