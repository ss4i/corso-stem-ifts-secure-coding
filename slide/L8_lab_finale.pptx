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365760" cy="2286000"/>
          </a:xfrm>
          <a:prstGeom prst="rect">
            <a:avLst/>
          </a:prstGeom>
          <a:solidFill>
            <a:srgbClr val="00A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1" i="0">
                <a:solidFill>
                  <a:srgbClr val="00A0B0"/>
                </a:solidFill>
                <a:latin typeface="Calibri"/>
              </a:rPr>
              <a:t>LEZIONE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10058400" cy="1828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Calibri"/>
              </a:rPr>
              <a:t>Lab integrato finale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566160"/>
            <a:ext cx="10058400" cy="10972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1">
                <a:solidFill>
                  <a:srgbClr val="FFFFFF"/>
                </a:solidFill>
                <a:latin typeface="Calibri"/>
              </a:rPr>
              <a:t>Sei un junior security analyst. Trova le vulnerabilità.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029200"/>
            <a:ext cx="10058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1" i="0">
                <a:solidFill>
                  <a:srgbClr val="00A0B0"/>
                </a:solidFill>
                <a:latin typeface="Calibri"/>
              </a:rPr>
              <a:t>⏱  Lezione 8 · 2 ore — VERIFICA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943600"/>
            <a:ext cx="10058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Corso IFTS STEM · Specialista nelle Tecniche di Evoluzione e Manutenzione del Software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10058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FFFFFF"/>
                </a:solidFill>
                <a:latin typeface="Calibri"/>
              </a:rPr>
              <a:t>Ing. Alessandro Manneschi · Anno formativo 2024/2025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Cosa farai oggi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058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Hai imparato 7 capitoli di secure coding</a:t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Oggi applichi tutto su un'app vera, in 80 minuti</a:t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/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SCENARIO:</a:t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Sei un junior security analyst.</a:t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Ti viene affidata una piccola app per una review prima del rilascio.</a:t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Output: mini-report scritto.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" y="6446520"/>
            <a:ext cx="11274552" cy="0"/>
          </a:xfrm>
          <a:prstGeom prst="line">
            <a:avLst/>
          </a:prstGeom>
          <a:ln w="19050">
            <a:solidFill>
              <a:srgbClr val="00A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57200" y="6473952"/>
            <a:ext cx="73152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Secure Coding · Corso IFTS STEM · A. Manneschi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73952"/>
            <a:ext cx="118872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1" i="0">
                <a:solidFill>
                  <a:srgbClr val="6B7280"/>
                </a:solidFill>
                <a:latin typeface="Calibri"/>
              </a:rPr>
              <a:t>L8  ·  2/12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Regole del lab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5486400" cy="640080"/>
          </a:xfrm>
          <a:prstGeom prst="rect">
            <a:avLst/>
          </a:prstGeom>
          <a:solidFill>
            <a:srgbClr val="06A7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548640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✅ PERMESSO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737360"/>
            <a:ext cx="5486400" cy="4937760"/>
          </a:xfrm>
          <a:prstGeom prst="rect">
            <a:avLst/>
          </a:prstGeom>
          <a:solidFill>
            <a:srgbClr val="F1F4F8"/>
          </a:solidFill>
          <a:ln>
            <a:solidFill>
              <a:srgbClr val="06A7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874519"/>
            <a:ext cx="51206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</a:pPr>
            <a:r>
              <a:rPr sz="1500" b="1">
                <a:solidFill>
                  <a:srgbClr val="00A0B0"/>
                </a:solidFill>
                <a:latin typeface="Calibri"/>
              </a:rPr>
              <a:t>▸  </a:t>
            </a:r>
            <a:r>
              <a:rPr sz="1500">
                <a:solidFill>
                  <a:srgbClr val="1A1A2E"/>
                </a:solidFill>
                <a:latin typeface="Calibri"/>
              </a:rPr>
              <a:t>Leggere il codice sorgente</a:t>
            </a:r>
          </a:p>
          <a:p>
            <a:pPr>
              <a:lnSpc>
                <a:spcPct val="140000"/>
              </a:lnSpc>
            </a:pPr>
            <a:r>
              <a:rPr sz="1500" b="1">
                <a:solidFill>
                  <a:srgbClr val="00A0B0"/>
                </a:solidFill>
                <a:latin typeface="Calibri"/>
              </a:rPr>
              <a:t>▸  </a:t>
            </a:r>
            <a:r>
              <a:rPr sz="1500">
                <a:solidFill>
                  <a:srgbClr val="1A1A2E"/>
                </a:solidFill>
                <a:latin typeface="Calibri"/>
              </a:rPr>
              <a:t>DevTools, curl, sqlite3, DB Browser</a:t>
            </a:r>
          </a:p>
          <a:p>
            <a:pPr>
              <a:lnSpc>
                <a:spcPct val="140000"/>
              </a:lnSpc>
            </a:pPr>
            <a:r>
              <a:rPr sz="1500" b="1">
                <a:solidFill>
                  <a:srgbClr val="00A0B0"/>
                </a:solidFill>
                <a:latin typeface="Calibri"/>
              </a:rPr>
              <a:t>▸  </a:t>
            </a:r>
            <a:r>
              <a:rPr sz="1500">
                <a:solidFill>
                  <a:srgbClr val="1A1A2E"/>
                </a:solidFill>
                <a:latin typeface="Calibri"/>
              </a:rPr>
              <a:t>Lavorare a coppie</a:t>
            </a:r>
          </a:p>
          <a:p>
            <a:pPr>
              <a:lnSpc>
                <a:spcPct val="140000"/>
              </a:lnSpc>
            </a:pPr>
            <a:r>
              <a:rPr sz="1500" b="1">
                <a:solidFill>
                  <a:srgbClr val="00A0B0"/>
                </a:solidFill>
                <a:latin typeface="Calibri"/>
              </a:rPr>
              <a:t>▸  </a:t>
            </a:r>
            <a:r>
              <a:rPr sz="1500">
                <a:solidFill>
                  <a:srgbClr val="1A1A2E"/>
                </a:solidFill>
                <a:latin typeface="Calibri"/>
              </a:rPr>
              <a:t>1 hint gratis dal docente</a:t>
            </a:r>
          </a:p>
          <a:p>
            <a:pPr>
              <a:lnSpc>
                <a:spcPct val="140000"/>
              </a:lnSpc>
            </a:pPr>
            <a:r>
              <a:rPr sz="1500" b="1">
                <a:solidFill>
                  <a:srgbClr val="00A0B0"/>
                </a:solidFill>
                <a:latin typeface="Calibri"/>
              </a:rPr>
              <a:t>▸  </a:t>
            </a:r>
            <a:r>
              <a:rPr sz="1500">
                <a:solidFill>
                  <a:srgbClr val="1A1A2E"/>
                </a:solidFill>
                <a:latin typeface="Calibri"/>
              </a:rPr>
              <a:t>Consultare le dispense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097280"/>
            <a:ext cx="5486400" cy="64008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0" y="1097280"/>
            <a:ext cx="548640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🚫 NON PERMESSO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737360"/>
            <a:ext cx="5486400" cy="4937760"/>
          </a:xfrm>
          <a:prstGeom prst="rect">
            <a:avLst/>
          </a:prstGeom>
          <a:solidFill>
            <a:srgbClr val="F1F4F8"/>
          </a:solidFill>
          <a:ln>
            <a:solidFill>
              <a:srgbClr val="E639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874519"/>
            <a:ext cx="51206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</a:pPr>
            <a:r>
              <a:rPr sz="1500" b="1">
                <a:solidFill>
                  <a:srgbClr val="00A0B0"/>
                </a:solidFill>
                <a:latin typeface="Calibri"/>
              </a:rPr>
              <a:t>▸  </a:t>
            </a:r>
            <a:r>
              <a:rPr sz="1500">
                <a:solidFill>
                  <a:srgbClr val="1A1A2E"/>
                </a:solidFill>
                <a:latin typeface="Calibri"/>
              </a:rPr>
              <a:t>Aprire la versione corretta</a:t>
            </a:r>
          </a:p>
          <a:p>
            <a:pPr>
              <a:lnSpc>
                <a:spcPct val="140000"/>
              </a:lnSpc>
            </a:pPr>
            <a:r>
              <a:rPr sz="1500" b="1">
                <a:solidFill>
                  <a:srgbClr val="00A0B0"/>
                </a:solidFill>
                <a:latin typeface="Calibri"/>
              </a:rPr>
              <a:t>▸  </a:t>
            </a:r>
            <a:r>
              <a:rPr sz="1500">
                <a:solidFill>
                  <a:srgbClr val="1A1A2E"/>
                </a:solidFill>
                <a:latin typeface="Calibri"/>
              </a:rPr>
              <a:t>Cercare la soluzione su Google</a:t>
            </a:r>
          </a:p>
          <a:p>
            <a:pPr>
              <a:lnSpc>
                <a:spcPct val="140000"/>
              </a:lnSpc>
            </a:pPr>
            <a:r>
              <a:rPr sz="1500" b="1">
                <a:solidFill>
                  <a:srgbClr val="00A0B0"/>
                </a:solidFill>
                <a:latin typeface="Calibri"/>
              </a:rPr>
              <a:t>▸  </a:t>
            </a:r>
            <a:r>
              <a:rPr sz="1500">
                <a:solidFill>
                  <a:srgbClr val="1A1A2E"/>
                </a:solidFill>
                <a:latin typeface="Calibri"/>
              </a:rPr>
              <a:t>Copiare il report</a:t>
            </a:r>
          </a:p>
          <a:p>
            <a:pPr>
              <a:lnSpc>
                <a:spcPct val="140000"/>
              </a:lnSpc>
            </a:pPr>
            <a:r>
              <a:rPr sz="1500" b="1">
                <a:solidFill>
                  <a:srgbClr val="00A0B0"/>
                </a:solidFill>
                <a:latin typeface="Calibri"/>
              </a:rPr>
              <a:t>▸  </a:t>
            </a:r>
            <a:r>
              <a:rPr sz="1500">
                <a:solidFill>
                  <a:srgbClr val="1A1A2E"/>
                </a:solidFill>
                <a:latin typeface="Calibri"/>
              </a:rPr>
              <a:t>2° hint costa -5% sul voto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57200" y="6446520"/>
            <a:ext cx="11274552" cy="0"/>
          </a:xfrm>
          <a:prstGeom prst="line">
            <a:avLst/>
          </a:prstGeom>
          <a:ln w="19050">
            <a:solidFill>
              <a:srgbClr val="00A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57200" y="6473952"/>
            <a:ext cx="73152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Secure Coding · Corso IFTS STEM · A. Manneschi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73952"/>
            <a:ext cx="118872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1" i="0">
                <a:solidFill>
                  <a:srgbClr val="6B7280"/>
                </a:solidFill>
                <a:latin typeface="Calibri"/>
              </a:rPr>
              <a:t>L8  ·  3/12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Cheat-sheet di campo (1)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058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SQL Injection?</a:t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  Form login, ricerca, parametri in WHERE</a:t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  Test: '   ' OR '1'='1'   admin' --</a:t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/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IDOR?</a:t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  URL con ID numerici (/fattura/42)</a:t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  Cambia l'ID, vedi se accedi</a:t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/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XSS?</a:t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  Campi rivisualizzati (commenti, profilo)</a:t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  Test: &lt;script&gt;alert(1)&lt;/script&gt;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" y="6446520"/>
            <a:ext cx="11274552" cy="0"/>
          </a:xfrm>
          <a:prstGeom prst="line">
            <a:avLst/>
          </a:prstGeom>
          <a:ln w="19050">
            <a:solidFill>
              <a:srgbClr val="00A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57200" y="6473952"/>
            <a:ext cx="73152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Secure Coding · Corso IFTS STEM · A. Manneschi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73952"/>
            <a:ext cx="118872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1" i="0">
                <a:solidFill>
                  <a:srgbClr val="6B7280"/>
                </a:solidFill>
                <a:latin typeface="Calibri"/>
              </a:rPr>
              <a:t>L8  ·  4/12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Cheat-sheet di campo (2)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058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Crypto Failures?</a:t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  Apri il DB con DB Browser</a:t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  Password in chiaro? MD5? bcrypt?</a:t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/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Path Traversal?</a:t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  Endpoint con parametro filename</a:t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  Test: ?file=../etc/passwd</a:t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/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BONUS — Cookie / Header / CVE in dipendenze</a:t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  DevTools → Application → Cookies</a:t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  pip-audit -r requirements.txt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" y="6446520"/>
            <a:ext cx="11274552" cy="0"/>
          </a:xfrm>
          <a:prstGeom prst="line">
            <a:avLst/>
          </a:prstGeom>
          <a:ln w="19050">
            <a:solidFill>
              <a:srgbClr val="00A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57200" y="6473952"/>
            <a:ext cx="73152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Secure Coding · Corso IFTS STEM · A. Manneschi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73952"/>
            <a:ext cx="118872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1" i="0">
                <a:solidFill>
                  <a:srgbClr val="6B7280"/>
                </a:solidFill>
                <a:latin typeface="Calibri"/>
              </a:rPr>
              <a:t>L8  ·  5/12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Mini-report richiesto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058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Almeno 3 vulnerabilità identificate</a:t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Per ognuna:</a:t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  Descrizione (cos'è, dove si trova)</a:t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  Proof of Concept funzionante</a:t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  Fix proposto in codice</a:t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  Severity (Low / Medium / High / Critical)</a:t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  Categoria OWASP</a:t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  Norma violata (se applicabile)</a:t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/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Lunghezza: 1-2 pagine. Formato libero.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" y="6446520"/>
            <a:ext cx="11274552" cy="0"/>
          </a:xfrm>
          <a:prstGeom prst="line">
            <a:avLst/>
          </a:prstGeom>
          <a:ln w="19050">
            <a:solidFill>
              <a:srgbClr val="00A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57200" y="6473952"/>
            <a:ext cx="73152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Secure Coding · Corso IFTS STEM · A. Manneschi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73952"/>
            <a:ext cx="118872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1" i="0">
                <a:solidFill>
                  <a:srgbClr val="6B7280"/>
                </a:solidFill>
                <a:latin typeface="Calibri"/>
              </a:rPr>
              <a:t>L8  ·  6/12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Griglia di valutazione (su 100)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188720"/>
          <a:ext cx="1124712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23560"/>
                <a:gridCol w="5623560"/>
              </a:tblGrid>
              <a:tr h="718457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Voce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Peso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</a:tr>
              <a:tr h="718457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Numero vulnerabilità (≥3 = sufficiente, 5+ = ottimo)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</a:tr>
              <a:tr h="718457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Correttezza tecnica dei PoC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18457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Qualità dei fix proposti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</a:tr>
              <a:tr h="718457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Severity giustificata coerentemente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18457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Mapping OWASP / norma violata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</a:tr>
              <a:tr h="718458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Sufficienza: 60/100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cxnSp>
        <p:nvCxnSpPr>
          <p:cNvPr id="5" name="Connector 4"/>
          <p:cNvCxnSpPr/>
          <p:nvPr/>
        </p:nvCxnSpPr>
        <p:spPr>
          <a:xfrm>
            <a:off x="457200" y="6446520"/>
            <a:ext cx="11274552" cy="0"/>
          </a:xfrm>
          <a:prstGeom prst="line">
            <a:avLst/>
          </a:prstGeom>
          <a:ln w="19050">
            <a:solidFill>
              <a:srgbClr val="00A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57200" y="6473952"/>
            <a:ext cx="73152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Secure Coding · Corso IFTS STEM · A. Manneschi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73952"/>
            <a:ext cx="118872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1" i="0">
                <a:solidFill>
                  <a:srgbClr val="6B7280"/>
                </a:solidFill>
                <a:latin typeface="Calibri"/>
              </a:rPr>
              <a:t>L8  ·  7/12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Cosa distingue un report eccellente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058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Ha trovato almeno una vulnerabilità 'bonus'</a:t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  (cookie senza HttpOnly, CVE in deps, header mancanti)</a:t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/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PoC riproducibili passo-passo</a:t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Fix non solo 'patch puntuale' ma raccomandazioni architetturali</a:t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Cita correttamente GDPR/NIS 2 dove applicabile</a:t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Executive summary chiaro in 3 frasi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" y="6446520"/>
            <a:ext cx="11274552" cy="0"/>
          </a:xfrm>
          <a:prstGeom prst="line">
            <a:avLst/>
          </a:prstGeom>
          <a:ln w="19050">
            <a:solidFill>
              <a:srgbClr val="00A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57200" y="6473952"/>
            <a:ext cx="73152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Secure Coding · Corso IFTS STEM · A. Manneschi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73952"/>
            <a:ext cx="118872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1" i="0">
                <a:solidFill>
                  <a:srgbClr val="6B7280"/>
                </a:solidFill>
                <a:latin typeface="Calibri"/>
              </a:rPr>
              <a:t>L8  ·  8/12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0" cy="6858000"/>
          </a:xfrm>
          <a:prstGeom prst="rect">
            <a:avLst/>
          </a:prstGeom>
          <a:solidFill>
            <a:srgbClr val="0F2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2286000"/>
            <a:ext cx="1828800" cy="1828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2000" b="1" i="0">
                <a:solidFill>
                  <a:srgbClr val="00A0B0"/>
                </a:solidFill>
                <a:latin typeface="Calibri"/>
              </a:rPr>
              <a:t>Final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2560320"/>
            <a:ext cx="8961120" cy="1371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4200" b="1" i="0">
                <a:solidFill>
                  <a:srgbClr val="0F2D52"/>
                </a:solidFill>
                <a:latin typeface="Calibri"/>
              </a:rPr>
              <a:t>Cosa porti via dal corso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0" y="3931920"/>
            <a:ext cx="8961120" cy="1828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0" i="1">
                <a:solidFill>
                  <a:srgbClr val="6B7280"/>
                </a:solidFill>
                <a:latin typeface="Calibri"/>
              </a:rPr>
              <a:t>5 idee, che ti restano tra 5 anni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6446520"/>
            <a:ext cx="11274552" cy="0"/>
          </a:xfrm>
          <a:prstGeom prst="line">
            <a:avLst/>
          </a:prstGeom>
          <a:ln w="19050">
            <a:solidFill>
              <a:srgbClr val="00A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57200" y="6473952"/>
            <a:ext cx="73152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Secure Coding · Corso IFTS STEM · A. Manneschi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73952"/>
            <a:ext cx="118872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1" i="0">
                <a:solidFill>
                  <a:srgbClr val="6B7280"/>
                </a:solidFill>
                <a:latin typeface="Calibri"/>
              </a:rPr>
              <a:t>L8  ·  9/12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Cosa porti a casa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058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1. La sicurezza si PROGETTA, non si aggiunge</a:t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2. DEFENSE IN DEPTH sempre. Mai una sola difesa.</a:t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3. MENTALITÀ AVVERSARIA. Cosa fa che non dovrebbe?</a:t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4. I fondamentali tecnici OWASP — li riconosci a vista, li correggi a memoria</a:t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5. DOCUMENTA, TESTA, AUTOMATIZZA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" y="6446520"/>
            <a:ext cx="11274552" cy="0"/>
          </a:xfrm>
          <a:prstGeom prst="line">
            <a:avLst/>
          </a:prstGeom>
          <a:ln w="19050">
            <a:solidFill>
              <a:srgbClr val="00A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57200" y="6473952"/>
            <a:ext cx="73152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Secure Coding · Corso IFTS STEM · A. Manneschi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73952"/>
            <a:ext cx="118872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1" i="0">
                <a:solidFill>
                  <a:srgbClr val="6B7280"/>
                </a:solidFill>
                <a:latin typeface="Calibri"/>
              </a:rPr>
              <a:t>L8  ·  10/12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Per crescere ancora (gratuito)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058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PortSwigger Web Security Academy</a:t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  Il miglior corso gratuito al mondo, lab guidati</a:t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/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TryHackMe — beginner friendly</a:t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HackTheBox starting point — più hard, cresci tanto</a:t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OWASP — cheat sheets, top 10, ASVS</a:t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/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Certificazioni entry: CompTIA Security+, eJPT, PortSwigger BSCP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" y="6446520"/>
            <a:ext cx="11274552" cy="0"/>
          </a:xfrm>
          <a:prstGeom prst="line">
            <a:avLst/>
          </a:prstGeom>
          <a:ln w="19050">
            <a:solidFill>
              <a:srgbClr val="00A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57200" y="6473952"/>
            <a:ext cx="73152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Secure Coding · Corso IFTS STEM · A. Manneschi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73952"/>
            <a:ext cx="118872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1" i="0">
                <a:solidFill>
                  <a:srgbClr val="6B7280"/>
                </a:solidFill>
                <a:latin typeface="Calibri"/>
              </a:rPr>
              <a:t>L8  ·  11/12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686800" y="457200"/>
            <a:ext cx="3200400" cy="3200400"/>
          </a:xfrm>
          <a:prstGeom prst="ellipse">
            <a:avLst/>
          </a:prstGeom>
          <a:solidFill>
            <a:srgbClr val="00A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7315200" cy="22860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8800" b="1" i="0">
                <a:solidFill>
                  <a:srgbClr val="FFFFFF"/>
                </a:solidFill>
                <a:latin typeface="Calibri"/>
              </a:rPr>
              <a:t>Domande?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0" y="457200"/>
            <a:ext cx="3200400" cy="32004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8000" b="1" i="0">
                <a:solidFill>
                  <a:srgbClr val="FFFFFF"/>
                </a:solidFill>
                <a:latin typeface="Calibri"/>
              </a:rPr>
              <a:t>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114800"/>
            <a:ext cx="10058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00A0B0"/>
                </a:solidFill>
                <a:latin typeface="Calibri"/>
              </a:rPr>
              <a:t>Cosa portarti via: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6446520"/>
            <a:ext cx="11274552" cy="0"/>
          </a:xfrm>
          <a:prstGeom prst="line">
            <a:avLst/>
          </a:prstGeom>
          <a:ln w="19050">
            <a:solidFill>
              <a:srgbClr val="00A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57200" y="6473952"/>
            <a:ext cx="73152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Secure Coding · Corso IFTS STEM · A. Manneschi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73952"/>
            <a:ext cx="118872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1" i="0">
                <a:solidFill>
                  <a:srgbClr val="6B7280"/>
                </a:solidFill>
                <a:latin typeface="Calibri"/>
              </a:rPr>
              <a:t>L8  ·  12/12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