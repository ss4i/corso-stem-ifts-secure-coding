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365760" cy="2286000"/>
          </a:xfrm>
          <a:prstGeom prst="rect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0A0B0"/>
                </a:solidFill>
                <a:latin typeface="Calibri"/>
              </a:rPr>
              <a:t>LEZIONE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0584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Perché il secure coding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1">
                <a:solidFill>
                  <a:srgbClr val="FFFFFF"/>
                </a:solidFill>
                <a:latin typeface="Calibri"/>
              </a:rPr>
              <a:t>Fondamenti, CIA, 5 principi, mentalità avversaria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0A0B0"/>
                </a:solidFill>
                <a:latin typeface="Calibri"/>
              </a:rPr>
              <a:t>⏱  Lezione 1 · 2 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Corso IFTS STEM · Specialista nelle Tecniche di Evoluzione e Manutenzione del Software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Ing. Alessandro Manneschi · Anno formativo 2024/2025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Obiettivi della lezione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Definire la sicurezza in termini misurabili (CIA Triad)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Distinguere sicurezza del codice da sicurezza informatica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Conoscere i 5 principi fondamentali del Secure Coding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Analizzare 3 casi reali di breach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Adottare la 'mentalità avversaria' nel proprio codice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L1  ·  2/12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685800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2286000"/>
            <a:ext cx="18288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0" b="1" i="0">
                <a:solidFill>
                  <a:srgbClr val="00A0B0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560320"/>
            <a:ext cx="896112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200" b="1" i="0">
                <a:solidFill>
                  <a:srgbClr val="0F2D52"/>
                </a:solidFill>
                <a:latin typeface="Calibri"/>
              </a:rPr>
              <a:t>Una storia: Equifax 2017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3931920"/>
            <a:ext cx="896112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147 milioni di record rubati, 1,4 miliardi di costo. Causa? Una patch non installata.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L1  ·  3/12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Cosa è andato storto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1">
                <a:solidFill>
                  <a:srgbClr val="00A0B0"/>
                </a:solidFill>
                <a:latin typeface="Calibri"/>
              </a:rPr>
              <a:t>La sicurezza non è il giorno del breach: è il processo dei mesi prima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Marzo 2017: pubblicata patch per Apache Struts (CVE-2017-5638, CVSS 10.0)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Equifax la conosce. Equifax NON la installa per 2 mesi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Maggio-luglio 2017: attaccanti sfruttano la vulnerabilità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147M di record clienti rubati (nome, SSN, indirizzo, data di nascita)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Costo finale: ~$1,4 miliardi · CEO/CSO/CIO licenziati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L1  ·  4/12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Cosa significa 'essere sicuri': la CIA Triad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C — Confidentiality (Riservatezza): dati visibili solo a chi può vederli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I — Integrity (Integrità): dati non modificati senza autorizzazione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A — Availability (Disponibilità): sistema funziona quando serve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Ogni breach viola almeno una di queste 3 proprietà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L1  ·  5/12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8288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0" b="1" i="0">
                <a:solidFill>
                  <a:srgbClr val="00A0B0"/>
                </a:solidFill>
                <a:latin typeface="Georgia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828800"/>
            <a:ext cx="9144000" cy="32004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1">
                <a:solidFill>
                  <a:srgbClr val="0F2D52"/>
                </a:solidFill>
                <a:latin typeface="Calibri"/>
              </a:rPr>
              <a:t>La sicurezza non è una feature: è una proprietà del sistema.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5029200"/>
            <a:ext cx="9144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1">
                <a:solidFill>
                  <a:srgbClr val="6B7280"/>
                </a:solidFill>
                <a:latin typeface="Calibri"/>
              </a:rPr>
              <a:t>— Bruce Schneier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L1  ·  6/12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Due tipi di sicurezza diversi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5486400" cy="64008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5486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Sicurezza informatica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37360"/>
            <a:ext cx="5486400" cy="4937760"/>
          </a:xfrm>
          <a:prstGeom prst="rect">
            <a:avLst/>
          </a:prstGeom>
          <a:solidFill>
            <a:srgbClr val="F1F4F8"/>
          </a:solidFill>
          <a:ln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206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Rete, server, OS</a:t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Firewall, VPN, accessi SSH</a:t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Sistemisti / IT</a:t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Esempio: configurare il firewall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097280"/>
            <a:ext cx="5486400" cy="640080"/>
          </a:xfrm>
          <a:prstGeom prst="rect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097280"/>
            <a:ext cx="5486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Sicurezza del codice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737360"/>
            <a:ext cx="5486400" cy="4937760"/>
          </a:xfrm>
          <a:prstGeom prst="rect">
            <a:avLst/>
          </a:prstGeom>
          <a:solidFill>
            <a:srgbClr val="F1F4F8"/>
          </a:solidFill>
          <a:ln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874519"/>
            <a:ext cx="51206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Applicazioni, API, dati</a:t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Validation, query parametrizzate, escape</a:t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Sviluppatori (TU)</a:t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Esempio: prevenire SQL Injection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L1  ·  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I 5 principi del Secure Coding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1. Least Privilege — minimo privilegio necessario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2. Defense in Depth — più strati indipendenti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3. Fail Secure — se si rompe, chiudi (default deny)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4. KISS — meno codice, meno bug, meno superficie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5. Separation of Duties — mai una persona/processo da solo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L1  ·  8/12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0584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Esempio: Fail Secure vs Fail Open</a:t>
            </a:r>
          </a:p>
        </p:txBody>
      </p:sp>
      <p:sp>
        <p:nvSpPr>
          <p:cNvPr id="4" name="Rectangle 3"/>
          <p:cNvSpPr/>
          <p:nvPr/>
        </p:nvSpPr>
        <p:spPr>
          <a:xfrm>
            <a:off x="9875520" y="164592"/>
            <a:ext cx="2103120" cy="4572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0" y="182880"/>
            <a:ext cx="210312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🚩 ANTI-PATTERN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1124712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4206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try: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    if not is_authorized(user, resource):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        return 403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    return resource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except Exception: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    return resource   # 💥 fail OPEN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                  # se il check si rompe, l'utente entra lo stesso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1">
                <a:solidFill>
                  <a:srgbClr val="E63946"/>
                </a:solidFill>
                <a:latin typeface="Calibri"/>
              </a:rPr>
              <a:t>⚠  Codice 'robusto' all'apparenza, in realtà un disastro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L1  ·  9/12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0584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Fail Secure: la versione corretta</a:t>
            </a:r>
          </a:p>
        </p:txBody>
      </p:sp>
      <p:sp>
        <p:nvSpPr>
          <p:cNvPr id="4" name="Rectangle 3"/>
          <p:cNvSpPr/>
          <p:nvPr/>
        </p:nvSpPr>
        <p:spPr>
          <a:xfrm>
            <a:off x="9875520" y="164592"/>
            <a:ext cx="2103120" cy="457200"/>
          </a:xfrm>
          <a:prstGeom prst="rect">
            <a:avLst/>
          </a:prstGeom>
          <a:solidFill>
            <a:srgbClr val="06A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0" y="182880"/>
            <a:ext cx="210312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✅ PYTHON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1124712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06A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4206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try: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    if not is_authorized(user, resource):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        return 403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    return resource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except Exception as e: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    log.exception("auth check failed")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    return 503   # ✅ servizio non disponibile,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                 # NON accesso senza autorizzazione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1">
                <a:solidFill>
                  <a:srgbClr val="06A77D"/>
                </a:solidFill>
                <a:latin typeface="Calibri"/>
              </a:rPr>
              <a:t>✓  In dubbio, il sistema CHIUDE, non APRE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L1  ·  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Mentalità avversaria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Sviluppatore: 'fa quello che deve fare?'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Attaccante: 'cosa fa che NON dovrebbe fare?'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Esempio: un login funzionante può essere vulnerabile a 7 attacchi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SQL Injection · brute force · timing · privilege escalation · ...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La sicurezza è 'l'altra metà' della professionalità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L1  ·  11/12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457200"/>
            <a:ext cx="3200400" cy="320040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3152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800" b="1" i="0">
                <a:solidFill>
                  <a:srgbClr val="FFFFFF"/>
                </a:solidFill>
                <a:latin typeface="Calibri"/>
              </a:rPr>
              <a:t>Domande?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457200"/>
            <a:ext cx="3200400" cy="32004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00A0B0"/>
                </a:solidFill>
                <a:latin typeface="Calibri"/>
              </a:rPr>
              <a:t>Cosa portarti via: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1">
                <a:solidFill>
                  <a:srgbClr val="FFFFFF"/>
                </a:solidFill>
                <a:latin typeface="Calibri"/>
              </a:rPr>
              <a:t>➜  Prossima lezione: L2 — OWASP, threat modeling, STRIDE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L1  ·  12/12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