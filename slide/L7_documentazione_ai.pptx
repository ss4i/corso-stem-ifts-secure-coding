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365760" cy="2286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A0B0"/>
                </a:solidFill>
                <a:latin typeface="Calibri"/>
              </a:rPr>
              <a:t>LEZIONE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Documentazione e uso dell'IA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1">
                <a:solidFill>
                  <a:srgbClr val="FFFFFF"/>
                </a:solidFill>
                <a:latin typeface="Calibri"/>
              </a:rPr>
              <a:t>SECURITY.md, AI assistente sicuro, validazione del codice generato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A0B0"/>
                </a:solidFill>
                <a:latin typeface="Calibri"/>
              </a:rPr>
              <a:t>⏱  Lezione 7 · 2 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Corso IFTS STEM · Specialista nelle Tecniche di Evoluzione e Manutenzione del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Ing. Alessandro Manneschi · Anno formativo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Obiettivi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Capire perché documentare la sicurezza è un requisito (non burocrazia)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Strutturare un documento SECURITY.md per un progetto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Conoscere i 7 errori tipici del codice generato da IA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Applicare il workflow di validazione in 4 step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Sapere quando NON usare l'IA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0"/>
            <a:ext cx="1828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0" b="1" i="0">
                <a:solidFill>
                  <a:srgbClr val="00A0B0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560320"/>
            <a:ext cx="89611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200" b="1" i="0">
                <a:solidFill>
                  <a:srgbClr val="0F2D52"/>
                </a:solidFill>
                <a:latin typeface="Calibri"/>
              </a:rPr>
              <a:t>Documentazione di sicurezza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931920"/>
            <a:ext cx="896112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GDPR Art. 32 chiede 'misure tecniche adeguate'. Le devi sapere elencare.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Documentare la sicurezza: 3 motivi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1. REQUISITO LEGALE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GDPR Art. 32 · NIS 2 Art. 21 · CRA (2027)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2. REQUISITO OPERATIVO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Nuovi sviluppatori sanno cosa è stato fatto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Auditor verificano in mezza giornata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3. REQUISITO POST-INCIDENT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Sapere dove sono le contromisure attive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Template SECURITY.md — 9 sezioni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 b="1">
                <a:solidFill>
                  <a:srgbClr val="00A0B0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1. Informazioni generali (progetto, owner, dati trattati, norme)</a:t>
            </a:r>
          </a:p>
          <a:p>
            <a:pPr>
              <a:lnSpc>
                <a:spcPct val="150000"/>
              </a:lnSpc>
            </a:pPr>
            <a:r>
              <a:rPr sz="1600" b="1">
                <a:solidFill>
                  <a:srgbClr val="00A0B0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2. Threat model (DFD + tabella STRIDE)</a:t>
            </a:r>
          </a:p>
          <a:p>
            <a:pPr>
              <a:lnSpc>
                <a:spcPct val="150000"/>
              </a:lnSpc>
            </a:pPr>
            <a:r>
              <a:rPr sz="1600" b="1">
                <a:solidFill>
                  <a:srgbClr val="00A0B0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3. Controlli applicati (auth, authz, validation, header, cifratura)</a:t>
            </a:r>
          </a:p>
          <a:p>
            <a:pPr>
              <a:lnSpc>
                <a:spcPct val="150000"/>
              </a:lnSpc>
            </a:pPr>
            <a:r>
              <a:rPr sz="1600" b="1">
                <a:solidFill>
                  <a:srgbClr val="00A0B0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4. Vulnerabilità note e debt tecnico (trasparenza)</a:t>
            </a:r>
          </a:p>
          <a:p>
            <a:pPr>
              <a:lnSpc>
                <a:spcPct val="150000"/>
              </a:lnSpc>
            </a:pPr>
            <a:r>
              <a:rPr sz="1600" b="1">
                <a:solidFill>
                  <a:srgbClr val="00A0B0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5. Test di sicurezza (automatici + pentest)</a:t>
            </a:r>
          </a:p>
          <a:p>
            <a:pPr>
              <a:lnSpc>
                <a:spcPct val="150000"/>
              </a:lnSpc>
            </a:pPr>
            <a:r>
              <a:rPr sz="1600" b="1">
                <a:solidFill>
                  <a:srgbClr val="00A0B0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6. Incident response (contatti emergenza, playbook)</a:t>
            </a:r>
          </a:p>
          <a:p>
            <a:pPr>
              <a:lnSpc>
                <a:spcPct val="150000"/>
              </a:lnSpc>
            </a:pPr>
            <a:r>
              <a:rPr sz="1600" b="1">
                <a:solidFill>
                  <a:srgbClr val="00A0B0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7. Compliance (GDPR, NIS 2, CRA)</a:t>
            </a:r>
          </a:p>
          <a:p>
            <a:pPr>
              <a:lnSpc>
                <a:spcPct val="150000"/>
              </a:lnSpc>
            </a:pPr>
            <a:r>
              <a:rPr sz="1600" b="1">
                <a:solidFill>
                  <a:srgbClr val="00A0B0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8. Approvazione e revisione</a:t>
            </a:r>
          </a:p>
          <a:p>
            <a:pPr>
              <a:lnSpc>
                <a:spcPct val="150000"/>
              </a:lnSpc>
            </a:pPr>
            <a:r>
              <a:rPr sz="1600" b="1">
                <a:solidFill>
                  <a:srgbClr val="00A0B0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Calibri"/>
              </a:rPr>
              <a:t>9. Allegati (DPIA, pentest report, SBOM)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Esempio sezione 3.1 — Autenticazione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838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Controllo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Stato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Dettaglio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Hashing password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✅ Implementato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bcrypt cost=12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⚠ Parziale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TOTP solo per 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Rate limit login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✅ Implementato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5/min via flask-limiter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Risposta uniforme errori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✅ Implementato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stesso msg email/password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Session ID rigenerato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✅ Implementato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Flask-Login default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Collegamento con UF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UF 7 — Tecniche di redazione documentazione tecnica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ti dà le basi: chiarezza, struttura, stile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Applica quei principi a SECURITY.md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Esercizio raccomandato: per il TUO progetto di stage,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mantieni un SECURITY.md compilato fin dall'inizio.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Sarà uno degli output più apprezzati in azienda.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0"/>
            <a:ext cx="1828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0" b="1" i="0">
                <a:solidFill>
                  <a:srgbClr val="00A0B0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560320"/>
            <a:ext cx="89611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200" b="1" i="0">
                <a:solidFill>
                  <a:srgbClr val="0F2D52"/>
                </a:solidFill>
                <a:latin typeface="Calibri"/>
              </a:rPr>
              <a:t>Uso responsabile dell'IA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931920"/>
            <a:ext cx="896112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Copilot, Claude, ChatGPT, Cursor: moltiplicatori di produttività... e di errori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0" b="1" i="0">
                <a:solidFill>
                  <a:srgbClr val="00A0B0"/>
                </a:solidFill>
                <a:latin typeface="Georgia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0"/>
            <a:ext cx="9144000" cy="3200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1">
                <a:solidFill>
                  <a:srgbClr val="0F2D52"/>
                </a:solidFill>
                <a:latin typeface="Calibri"/>
              </a:rPr>
              <a:t>L'IA non sa di sicurezza. Tu devi.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Studi GitHub (2022), Stanford (2023):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~40% dei suggerimenti Copilot in scenari di sicurezza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contengono vulnerabilità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Gli sviluppatori con AI scrivono codice meno sicuro,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ma sono PIÙ CONVINTI che sia sicuro (bias cognitivo)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Tradotto: l'IA è uno strumento potente, non un revisore di sicurezza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 7 errori tipici del codice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1. SQL Injection con f-string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2. Hash deboli (SHA-256) per password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3. Manca authorization check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4. Template senza escape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5. CORS troppo permissivo ('origins': '*')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6. Eccezioni catch-all che falliscono in modo aperto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7. Segreti hardcoded ('change-me')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BONUS: librerie inventate (hallucination)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Workflow di validazione in 4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1. LEGGI E CAPISCI (30 sec)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Se non sapresti spiegarlo a un collega: non accettare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2. SCANSIONA PATTERN (1 min)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f-string in SQL? hash deboli? eval/exec? cookie senza attributi?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3. VERIFICA CONTESTO (1-2 min)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Coerente con architettura, versioni, convenzioni?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4. TEST + LINTER (5-15 min)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pytest + bandit + semgrep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Quando NON usare l'IA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Crittografia 'fatta in casa' (usa librerie standard)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Codice di sicurezza critico (authn/authz)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Compliance e legale (privacy policy, cookie banner)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Quando NON sai validare (impara prima!)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Caso reale: Samsung 2023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Dipendenti incollarono codice proprietario in ChatGPT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→ OpenAI lo usò per training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→ leakato indirettamente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→ Samsung dovette vietare ChatGPT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457200"/>
            <a:ext cx="3200400" cy="320040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Calibri"/>
              </a:rPr>
              <a:t>Domande?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457200"/>
            <a:ext cx="3200400" cy="3200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0A0B0"/>
                </a:solidFill>
                <a:latin typeface="Calibri"/>
              </a:rPr>
              <a:t>Cosa portarti via: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FFFFFF"/>
                </a:solidFill>
                <a:latin typeface="Calibri"/>
              </a:rPr>
              <a:t>➜  Prossima lezione: L8 — Lab integrato finale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L7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