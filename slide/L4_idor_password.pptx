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365760" cy="2286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0A0B0"/>
                </a:solidFill>
                <a:latin typeface="Calibri"/>
              </a:rPr>
              <a:t>LEZIONE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Autorizzazione e password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1">
                <a:solidFill>
                  <a:srgbClr val="FFFFFF"/>
                </a:solidFill>
                <a:latin typeface="Calibri"/>
              </a:rPr>
              <a:t>IDOR, status code, bcrypt — gli errori più costosi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0A0B0"/>
                </a:solidFill>
                <a:latin typeface="Calibri"/>
              </a:rPr>
              <a:t>⏱  Lezione 4 · 2 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Corso IFTS STEM · Specialista nelle Tecniche di Evoluzione e Manutenzione del Software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Ing. Alessandro Manneschi · Anno formativo 2024/2025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Obiettivi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Distinguere autenticazione da autorizzazione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Riconoscere e correggere un IDOR (Broken Access Control)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Usare correttamente status code 401, 403, 404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Capire perché MD5/SHA NON vanno per password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Hashare correttamente con bcrypt (o Argon2id)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Authn vs Authz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486400" cy="64008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AUTHENTICATION (authn)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5486400" cy="4937760"/>
          </a:xfrm>
          <a:prstGeom prst="rect">
            <a:avLst/>
          </a:prstGeom>
          <a:solidFill>
            <a:srgbClr val="F1F4F8"/>
          </a:solidFill>
          <a:ln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Chi sei?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Si verifica al LOGIN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Username + password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Token, MFA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Esempio: 'sei Mario, ok'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097280"/>
            <a:ext cx="5486400" cy="64008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09728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AUTHORIZATION (authz)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5486400" cy="4937760"/>
          </a:xfrm>
          <a:prstGeom prst="rect">
            <a:avLst/>
          </a:prstGeom>
          <a:solidFill>
            <a:srgbClr val="F1F4F8"/>
          </a:solidFill>
          <a:ln>
            <a:solidFill>
              <a:srgbClr val="0F2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Cosa puoi fare?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Si verifica a OGNI richiesta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Ruoli, permessi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Ownership check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Esempio: 'Mario può vedere la fattura 42?'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0"/>
            <a:ext cx="18288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0" b="1" i="0">
                <a:solidFill>
                  <a:srgbClr val="00A0B0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560320"/>
            <a:ext cx="896112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200" b="1" i="0">
                <a:solidFill>
                  <a:srgbClr val="0F2D52"/>
                </a:solidFill>
                <a:latin typeface="Calibri"/>
              </a:rPr>
              <a:t>IDOR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3931920"/>
            <a:ext cx="896112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Insecure Direct Object Reference — la vulnerabilità #1 web (OWASP A01)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Codice vulnerabile IDOR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9875520" y="164592"/>
            <a:ext cx="2103120" cy="4572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0" y="182880"/>
            <a:ext cx="21031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🚩 ANTI-PATTERN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24712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206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@app.route("/fattura/&lt;int:fid&gt;")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@login_required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def fattura(fid):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f = Fattura.query.get(fid)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return render_template("fattura.html", fattura=f)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/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Alice è loggata, vede /fattura/42 (sua)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Cambia URL: /fattura/43 → vede la fattura di Bob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Con uno script: /fattura/1, 2, 3, ... → ESFILTRA tutto il DB fatturazione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/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@login_required c'è... ma manca l'OWNERSHIP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1">
                <a:solidFill>
                  <a:srgbClr val="E63946"/>
                </a:solidFill>
                <a:latin typeface="Calibri"/>
              </a:rPr>
              <a:t>⚠  Una sola riga di controllo mancante = data breach completo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Caso italiano — 100.000€ di multa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2022, e-commerce italiano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URL /ordine/&lt;id&gt; non protetti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Cambiando l'ID → ordini di altri clienti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Con indirizzi, prodotti, importi, IBAN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Sanzione Garante Privacy: ~100.000€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GDPR Art. 25 (Privacy by Design) + Art. 32 (sicurezza)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Una sola riga avrebbe evitato tutto questo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La correzione: ownership 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875520" y="164592"/>
            <a:ext cx="2103120" cy="457200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0" y="182880"/>
            <a:ext cx="21031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✅ PYTHON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24712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206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@app.route("/fattura/&lt;int:fid&gt;")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@login_required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def fattura(fid):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f = Fattura.query.filter_by(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    id=fid,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    owner_id=session["user_id"]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).first_or_404()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return render_template("fattura.html", fattura=f)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/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Pattern alternativo, più pulito: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Filtri direttamente per owner. Se la fattura non esiste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O non è dell'utente: 404. Meno error-prone.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1">
                <a:solidFill>
                  <a:srgbClr val="06A77D"/>
                </a:solidFill>
                <a:latin typeface="Calibri"/>
              </a:rPr>
              <a:t>✓  filter_by(owner_id=...) è la chiave. Memorizzalo.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Status code: 401 vs 403 vs 404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12573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Significato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Quando usarlo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401 Unauthorized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Non autenticato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Manca login / token scaduto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403 Forbidden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Autenticato ma senza permessi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User normale prova /admin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404 Not Found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Risorsa inesistente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URL inesistente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0"/>
            <a:ext cx="18288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0" b="1" i="0">
                <a:solidFill>
                  <a:srgbClr val="00A0B0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560320"/>
            <a:ext cx="896112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200" b="1" i="0">
                <a:solidFill>
                  <a:srgbClr val="0F2D52"/>
                </a:solidFill>
                <a:latin typeface="Calibri"/>
              </a:rPr>
              <a:t>Password hashing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3931920"/>
            <a:ext cx="896112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Encoding ≠ Hashing ≠ Encryption — la differenza che cambia tutto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Tre operazioni DIVERSE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486400" cy="6400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Encoding — NO per password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5486400" cy="4937760"/>
          </a:xfrm>
          <a:prstGeom prst="rect">
            <a:avLst/>
          </a:prstGeom>
          <a:solidFill>
            <a:srgbClr val="F1F4F8"/>
          </a:solidFill>
          <a:ln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Base64, URL encoding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Reversibile e banale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Serve solo per il TRASPORTO dati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Non è crittografia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Encryption — NO per password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AES, RSA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Reversibile con CHIAVE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Se rubano la chiave: disastro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097280"/>
            <a:ext cx="5486400" cy="640080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09728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Hashing — SÌ per password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5486400" cy="4937760"/>
          </a:xfrm>
          <a:prstGeom prst="rect">
            <a:avLst/>
          </a:prstGeom>
          <a:solidFill>
            <a:srgbClr val="F1F4F8"/>
          </a:solidFill>
          <a:ln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bcrypt, Argon2id, scrypt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NON reversibile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Da hash NON torni alla password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Salt automatico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Work factor configurabile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bcrypt cost=12 ≈ 250ms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Per l'utente: impercettibile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Per l'attaccante: devastante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Perché MD5 e SHA-256 NON vanno per password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Velocità: SHA-256 su GPU = miliardi/sec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Rubato il DB, brute force in poche ore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Rainbow tables: senza salt, password identiche → hash identici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Tabelle pre-calcolate di password comuni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MD5 e SHA-1: collisioni note. Morti definitivamente.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bcrypt e Argon2id sono progettati apposta per essere LENTI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Hashing corretto: bcrypt</a:t>
            </a:r>
          </a:p>
        </p:txBody>
      </p:sp>
      <p:sp>
        <p:nvSpPr>
          <p:cNvPr id="4" name="Rectangle 3"/>
          <p:cNvSpPr/>
          <p:nvPr/>
        </p:nvSpPr>
        <p:spPr>
          <a:xfrm>
            <a:off x="9875520" y="164592"/>
            <a:ext cx="2103120" cy="457200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0" y="182880"/>
            <a:ext cx="21031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✅ PYTHON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24712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206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import bcrypt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/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Hash di una nuova password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def hash_password(password: str) -&gt; bytes: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return bcrypt.hashpw(password.encode("utf-8"),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                      bcrypt.gensalt(rounds=12))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/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Verifica al login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def verify_password(password: str, hash_db: bytes) -&gt; bool: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return bcrypt.checkpw(password.encode("utf-8"), hash_db)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/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Tre linguaggi, una libreria standard: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Python: bcrypt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Java: BCryptPasswordEncoder (Spring Security)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PHP:   password_hash($pwd, PASSWORD_BCRYPT, ['cost' =&gt; 12])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1">
                <a:solidFill>
                  <a:srgbClr val="06A77D"/>
                </a:solidFill>
                <a:latin typeface="Calibri"/>
              </a:rPr>
              <a:t>✓  Una riga di codice. Niente scuse per non usarlo.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Diagnosi visiva: apri il DB e guarda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Cosa vedi nella colonna password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Diagnosi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mariopwd (testo leggibile)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🔥 CHIARO — catastrofico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5f4dcc3b5aa765d61... (32 hex)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🔥 MD5 — morto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5baa61e4c9b93f3f068... (40 hex)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🔥 SHA-1 — morto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e3b0c44298fc1c149... (64 hex)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⚠ SHA-256 — inadeguato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$2b$12$KIXbN... (inizia con $2b$)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✅ bcrypt — OK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$argon2id$v=19$m=65536...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✅ Argon2id — ottimo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457200"/>
            <a:ext cx="3200400" cy="320040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3152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800" b="1" i="0">
                <a:solidFill>
                  <a:srgbClr val="FFFFFF"/>
                </a:solidFill>
                <a:latin typeface="Calibri"/>
              </a:rPr>
              <a:t>Domande?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457200"/>
            <a:ext cx="3200400" cy="3200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00A0B0"/>
                </a:solidFill>
                <a:latin typeface="Calibri"/>
              </a:rPr>
              <a:t>Cosa portarti via: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FFFFFF"/>
                </a:solidFill>
                <a:latin typeface="Calibri"/>
              </a:rPr>
              <a:t>➜  Prossima lezione: L5 — XSS + header HTTP di sicurezza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