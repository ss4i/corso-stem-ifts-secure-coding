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2743200" cy="27432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1371600"/>
            <a:ext cx="1828800" cy="18288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58200" y="34290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228600" cy="27432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0A0B0"/>
                </a:solidFill>
                <a:latin typeface="Calibri"/>
              </a:rPr>
              <a:t>LEZIONE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Autorizzazione e password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058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6FD8E0"/>
                </a:solidFill>
                <a:latin typeface="Calibri"/>
              </a:rPr>
              <a:t>IDOR, status code, bcrypt — gli errori più costosi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2011680" cy="4114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669280"/>
            <a:ext cx="20116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⏱  Lezione 4 · 2 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CBD0D8"/>
                </a:solidFill>
                <a:latin typeface="Calibri"/>
              </a:rPr>
              <a:t>Corso IFTS STEM · Ing. Alessandro Manneschi · 2024/2025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🎯  Obiettivi della lezione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2860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0" b="1" i="0">
                <a:solidFill>
                  <a:srgbClr val="F1F4F8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1">
                <a:solidFill>
                  <a:srgbClr val="00A0B0"/>
                </a:solidFill>
                <a:latin typeface="Calibri"/>
              </a:rPr>
              <a:t>obiettivi</a:t>
            </a:r>
          </a:p>
        </p:txBody>
      </p:sp>
      <p:sp>
        <p:nvSpPr>
          <p:cNvPr id="6" name="Oval 5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26187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Distinguere autenticazione da autorizzazione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6596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9659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3911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Riconoscere e correggere un IDOR</a:t>
            </a:r>
          </a:p>
        </p:txBody>
      </p:sp>
      <p:sp>
        <p:nvSpPr>
          <p:cNvPr id="12" name="Oval 11"/>
          <p:cNvSpPr/>
          <p:nvPr/>
        </p:nvSpPr>
        <p:spPr>
          <a:xfrm>
            <a:off x="3200400" y="274320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81635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Usare correttamente status code 401, 403, 404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352044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52044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59359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Capire perché MD5/SHA NON vanno per password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4297680"/>
            <a:ext cx="548640" cy="5486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2976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370832"/>
            <a:ext cx="77724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Hashare correttamente con bcrypt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Authentication vs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AUTHN — sei tu?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Si verifica al LOGIN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Username + password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Token, MFA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Esempio: 'sei Mario, ok'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Errore tipico: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0A0B0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login con password rubata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AUTHZ — cosa puoi fare?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F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Si verifica a OGNI richiesta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Ruoli, permessi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Ownership check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Esempio: 'Mario può vedere fattura 42?'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Errore tipico: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F2D52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IDOR — vedi dati di altri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IDOR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Insecure Direct Object Reference (OWASP A01)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⚖  Caso reale italiano — 100.000€ di multa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00A0B0"/>
                </a:solidFill>
                <a:latin typeface="Calibri"/>
              </a:rPr>
              <a:t>Provvedimento Garante: dati personali esposti senza ownership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2022, e-commerce italiano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URL /ordine/&lt;id&gt; non protetti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Cambiando l'ID nell'URL si vedevano ordini di altri clienti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con indirizzi, prodotti, importi, IBAN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Sanzione Garante Privacy: ~100.000€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GDPR Art. 25 (Privacy by Design) + Art. 32 (sicurezza)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Una sola riga di codice in più avrebbe evitato tutto questo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Soluzione: ownership check</a:t>
            </a:r>
          </a:p>
        </p:txBody>
      </p:sp>
      <p:pic>
        <p:nvPicPr>
          <p:cNvPr id="4" name="Picture 3" descr="cap4_idor_sa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filter_by(owner_id=...) è la riga che evita una multa da 100k€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Status code: 401 vs 403 vs 404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12344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Significato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Quando usarlo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401 Unauthorized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Non autenticato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Manca login / token scaduto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403 Forbidden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Autenticato ma senza permessi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User normale → /admin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344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404 Not Found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Risorsa inesistente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URL inesistente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Password hashing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Encoding ≠ Hashing ≠ Encryption — la differenza fondamentale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Tre operazioni DIVERSE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❌ NO per password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ENCODING (Base64)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Reversibile, banale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Serve per trasporto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ENCRYPTION (AES)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Reversibile con chiave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E63946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Se rubano chiave: disastro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06A7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05156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✅ SÌ per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486400" cy="457200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25400">
            <a:solidFill>
              <a:srgbClr val="06A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HASHING (bcrypt, Argon2id)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NON reversibile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Salt automatico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Work factor lento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bcrypt cost=12 ≈ 250ms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Utente: impercettibile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1500" b="1">
                <a:solidFill>
                  <a:srgbClr val="06A77D"/>
                </a:solidFill>
                <a:latin typeface="Calibri"/>
              </a:rPr>
              <a:t>▸  </a:t>
            </a:r>
            <a:r>
              <a:rPr sz="1500">
                <a:solidFill>
                  <a:srgbClr val="1A1A2E"/>
                </a:solidFill>
                <a:latin typeface="Calibri"/>
              </a:rPr>
              <a:t>  Attaccante: devastante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⏱  Perché MD5/SHA-256 NON vanno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Velocità: SHA-256 su GPU = miliardi/secondo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Rubato il DB, brute force in poche ore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Rainbow tables: senza salt, password identiche → hash identici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  Tabelle pre-calcolate di password comuni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MD5 e SHA-1: collisioni note. Morti definitivamente.</a:t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/>
            </a:r>
          </a:p>
          <a:p>
            <a:pPr>
              <a:lnSpc>
                <a:spcPct val="150000"/>
              </a:lnSpc>
              <a:spcAft>
                <a:spcPts val="400"/>
              </a:spcAft>
            </a:pPr>
            <a:r>
              <a:rPr sz="2000" b="1">
                <a:solidFill>
                  <a:srgbClr val="00A0B0"/>
                </a:solidFill>
                <a:latin typeface="Calibri"/>
              </a:rPr>
              <a:t>▸  </a:t>
            </a:r>
            <a:r>
              <a:rPr sz="2000">
                <a:solidFill>
                  <a:srgbClr val="1A1A2E"/>
                </a:solidFill>
                <a:latin typeface="Calibri"/>
              </a:rPr>
              <a:t>bcrypt e Argon2id sono progettati apposta per essere LENTI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bcrypt: l'implementazione corretta</a:t>
            </a:r>
          </a:p>
        </p:txBody>
      </p:sp>
      <p:pic>
        <p:nvPicPr>
          <p:cNvPr id="4" name="Picture 3" descr="cap4_bcry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88136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B7280"/>
                </a:solidFill>
                <a:latin typeface="Calibri"/>
              </a:rPr>
              <a:t>Una riga di codice. Salt automatico. Cost configurabile.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Diagnosi visiva: apri il DB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Cosa vedi nella colonna password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Diagnosi</a:t>
                      </a:r>
                    </a:p>
                  </a:txBody>
                  <a:tcPr>
                    <a:solidFill>
                      <a:srgbClr val="0F2D52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mariopwd (testo)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🔥 CHIARO — catastrofico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5f4dcc3b5aa765... (32 hex)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🔥 MD5 — morto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5baa61e4c9b93f... (40 hex)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🔥 SHA-1 — morto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e3b0c44298fc1c... (64 hex)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⚠ SHA-256 — inadeguato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$2b$12$KIXbN...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✅ bcrypt — OK</a:t>
                      </a:r>
                    </a:p>
                  </a:txBody>
                  <a:tcPr>
                    <a:solidFill>
                      <a:srgbClr val="F1F4F8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$argon2id$v=19$...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  <a:latin typeface="Calibri"/>
                        </a:rPr>
                        <a:t>✅ Argon2id — ottimo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📌  Cosa portare a casa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4401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01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401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14401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Authn ≠ Authz — sono due cose diverse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545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545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23545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3545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IDOR: caso reale italiano, 100k€ di multa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2689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689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11680" y="32689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689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401 = non autenticato, 403 = non autorizzato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1833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833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41833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0" y="41833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Mai MD5/SHA per password — usa bcrypt o Argon2id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097780"/>
            <a:ext cx="777240" cy="777240"/>
          </a:xfrm>
          <a:prstGeom prst="ellipse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97780"/>
            <a:ext cx="77724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11680" y="5097780"/>
            <a:ext cx="9144000" cy="777240"/>
          </a:xfrm>
          <a:prstGeom prst="roundRect">
            <a:avLst>
              <a:gd name="adj" fmla="val 8000"/>
            </a:avLst>
          </a:prstGeom>
          <a:solidFill>
            <a:srgbClr val="FBFBFD"/>
          </a:solidFill>
          <a:ln w="1905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0" y="5097780"/>
            <a:ext cx="86868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0" i="0">
                <a:solidFill>
                  <a:srgbClr val="1A1A2E"/>
                </a:solidFill>
                <a:latin typeface="Calibri"/>
              </a:rPr>
              <a:t>Apri il DB con DB Browser: il visivo è dirimente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46720" cy="6858000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137160" cy="6858000"/>
          </a:xfrm>
          <a:prstGeom prst="rect">
            <a:avLst/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2103120"/>
            <a:ext cx="36576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0" b="1" i="0">
                <a:solidFill>
                  <a:srgbClr val="00A0B0"/>
                </a:solidFill>
                <a:latin typeface="Calibr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6FD8E0"/>
                </a:solidFill>
                <a:latin typeface="Calibri"/>
              </a:rPr>
              <a:t>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86000"/>
            <a:ext cx="73152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2D52"/>
                </a:solidFill>
                <a:latin typeface="Calibri"/>
              </a:rPr>
              <a:t>Laboratorio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931920"/>
            <a:ext cx="7315200" cy="1828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Aggiungere ownership check e migrare a bcrypt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228600"/>
            <a:ext cx="2286000" cy="22860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3749040"/>
            <a:ext cx="1645920" cy="164592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4800600"/>
            <a:ext cx="1371600" cy="1371600"/>
          </a:xfrm>
          <a:prstGeom prst="ellipse">
            <a:avLst/>
          </a:prstGeom>
          <a:noFill/>
          <a:ln w="25400">
            <a:solidFill>
              <a:srgbClr val="0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058400" cy="2286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0" b="1" i="0">
                <a:solidFill>
                  <a:srgbClr val="FFFFFF"/>
                </a:solidFill>
                <a:latin typeface="Calibri"/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840480"/>
            <a:ext cx="2926080" cy="0"/>
          </a:xfrm>
          <a:prstGeom prst="line">
            <a:avLst/>
          </a:prstGeom>
          <a:ln w="5080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00A0B0"/>
                </a:solidFill>
                <a:latin typeface="Calibri"/>
              </a:rPr>
              <a:t>Riepilogo · Q&amp;A · Discussione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00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5029200"/>
            <a:ext cx="978408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00" b="1" i="1">
                <a:solidFill>
                  <a:srgbClr val="FFFFFF"/>
                </a:solidFill>
                <a:latin typeface="Calibri"/>
              </a:rPr>
              <a:t>➜  Prossima lezione: L5 — XSS + header HTTP di sicurezza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19050">
            <a:solidFill>
              <a:srgbClr val="00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Secure Coding · Corso IFTS STEM · A. Manneschi · 2024/2025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73952"/>
            <a:ext cx="118872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6B7280"/>
                </a:solidFill>
                <a:latin typeface="Calibri"/>
              </a:rPr>
              <a:t>L4  ·  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